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EffiPed system architecture. A single ConvNeXt V2 trunk feeds an adaptive P2/P3 fusion neck at stride 4. The fused map drives two heads: CenterNet detection and a part-aware 256-D identity descriptor. BoT-SORT associates detections into camera-local tracks using motion, overlap and the identity descriptor; a gallery stage then ranks candidates across cameras for human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22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EffiPed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96696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3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ConvNeXt V2 trunk feeds both detection and identity. Association runs per camera first, then across cameras.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8132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83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INPUT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325880" cy="2697480"/>
          </a:xfrm>
          <a:prstGeom prst="roundRect">
            <a:avLst>
              <a:gd name="adj" fmla="val 3448"/>
            </a:avLst>
          </a:prstGeom>
          <a:solidFill>
            <a:srgbClr val="141E25"/>
          </a:solidFill>
          <a:ln w="12700">
            <a:solidFill>
              <a:srgbClr val="2739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0936" y="1856232"/>
            <a:ext cx="1069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feed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30936" y="2148840"/>
            <a:ext cx="106984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synchronised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· 10 FPS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Letterbox to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1088 × 608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and time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retained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93392" y="148132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83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SHARED TRUNK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93392" y="1737360"/>
            <a:ext cx="1600200" cy="2697480"/>
          </a:xfrm>
          <a:prstGeom prst="roundRect">
            <a:avLst>
              <a:gd name="adj" fmla="val 2857"/>
            </a:avLst>
          </a:prstGeom>
          <a:solidFill>
            <a:srgbClr val="141E25"/>
          </a:solidFill>
          <a:ln w="12700">
            <a:solidFill>
              <a:srgbClr val="2739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21408" y="1856232"/>
            <a:ext cx="1344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ConvNeXt V2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121408" y="2148840"/>
            <a:ext cx="134416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 stride 4    edges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  stride 8    texture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  stride 16  semantics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  stride 32  context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7.78 M parameters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trunk serves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and identity —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backbone.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3758184" y="148132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83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FUSION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758184" y="1737360"/>
            <a:ext cx="1600200" cy="2697480"/>
          </a:xfrm>
          <a:prstGeom prst="roundRect">
            <a:avLst>
              <a:gd name="adj" fmla="val 2857"/>
            </a:avLst>
          </a:prstGeom>
          <a:solidFill>
            <a:srgbClr val="141E25"/>
          </a:solidFill>
          <a:ln w="12700">
            <a:solidFill>
              <a:srgbClr val="2739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86200" y="1856232"/>
            <a:ext cx="1344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P2 / P3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886200" y="2148840"/>
            <a:ext cx="134416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depthwise refine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upsample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P2 merge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channels at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4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fine edges for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distant people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semantic context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appearance.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5769864" y="14813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83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TASK HEADS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769864" y="1737360"/>
            <a:ext cx="1920240" cy="1188720"/>
          </a:xfrm>
          <a:prstGeom prst="roundRect">
            <a:avLst>
              <a:gd name="adj" fmla="val 3846"/>
            </a:avLst>
          </a:prstGeom>
          <a:solidFill>
            <a:srgbClr val="141E25"/>
          </a:solidFill>
          <a:ln w="12700">
            <a:solidFill>
              <a:srgbClr val="2739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97880" y="1856232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CenterNet detection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897880" y="2148840"/>
            <a:ext cx="1664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· LTRB box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offset · IoU quality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Max-pool decode, no NMS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5769864" y="3108960"/>
            <a:ext cx="1920240" cy="1325880"/>
          </a:xfrm>
          <a:prstGeom prst="roundRect">
            <a:avLst>
              <a:gd name="adj" fmla="val 3448"/>
            </a:avLst>
          </a:prstGeom>
          <a:solidFill>
            <a:srgbClr val="141E25"/>
          </a:solidFill>
          <a:ln w="12700">
            <a:solidFill>
              <a:srgbClr val="17786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97880" y="3227832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Part-aware identity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520440"/>
            <a:ext cx="16642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RoIAlign 32 × 8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horizontal body strips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Attention fusion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BNNeck → 256-D, L2 normalised</a:t>
            </a:r>
            <a:endParaRPr lang="en-US" sz="860" dirty="0"/>
          </a:p>
        </p:txBody>
      </p:sp>
      <p:sp>
        <p:nvSpPr>
          <p:cNvPr id="24" name="Text 22"/>
          <p:cNvSpPr txBox="1"/>
          <p:nvPr/>
        </p:nvSpPr>
        <p:spPr>
          <a:xfrm>
            <a:off x="7891272" y="14813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83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ASSOCIATION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891272" y="1737360"/>
            <a:ext cx="1920240" cy="1188720"/>
          </a:xfrm>
          <a:prstGeom prst="roundRect">
            <a:avLst>
              <a:gd name="adj" fmla="val 3846"/>
            </a:avLst>
          </a:prstGeom>
          <a:solidFill>
            <a:srgbClr val="141E25"/>
          </a:solidFill>
          <a:ln w="12700">
            <a:solidFill>
              <a:srgbClr val="27394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19288" y="1856232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BoT-SORT, per camera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019288" y="2148840"/>
            <a:ext cx="1664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 motion prediction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cascade + cosine appearance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camera-local tracks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7891272" y="3108960"/>
            <a:ext cx="1920240" cy="1325880"/>
          </a:xfrm>
          <a:prstGeom prst="roundRect">
            <a:avLst>
              <a:gd name="adj" fmla="val 3448"/>
            </a:avLst>
          </a:prstGeom>
          <a:solidFill>
            <a:srgbClr val="141E25"/>
          </a:solidFill>
          <a:ln w="12700">
            <a:solidFill>
              <a:srgbClr val="17786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19288" y="3227832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Cross-camera gallery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019288" y="3520440"/>
            <a:ext cx="166420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Per-strip cosine similarity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Mutual-visibility weighting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candidate ranking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global identity candidates</a:t>
            </a:r>
            <a:endParaRPr lang="en-US" sz="86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1481328"/>
            <a:ext cx="1673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83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 REVIEW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0012680" y="1737360"/>
            <a:ext cx="1673352" cy="2697480"/>
          </a:xfrm>
          <a:prstGeom prst="roundRect">
            <a:avLst>
              <a:gd name="adj" fmla="val 2732"/>
            </a:avLst>
          </a:prstGeom>
          <a:solidFill>
            <a:srgbClr val="18242C"/>
          </a:solidFill>
          <a:ln w="12700">
            <a:solidFill>
              <a:srgbClr val="7A5A2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140696" y="1856232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review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10140696" y="2148840"/>
            <a:ext cx="141732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and scores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Camera-local tracks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256-D identity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candidates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confirms every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match. Candidates are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appearance evidence,</a:t>
            </a:r>
            <a:endParaRPr lang="en-US" sz="86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60" dirty="0">
                <a:solidFill>
                  <a:srgbClr val="B4C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proof of identity.</a:t>
            </a:r>
            <a:endParaRPr lang="en-US" sz="860" dirty="0"/>
          </a:p>
        </p:txBody>
      </p:sp>
      <p:sp>
        <p:nvSpPr>
          <p:cNvPr id="35" name="Shape 33"/>
          <p:cNvSpPr/>
          <p:nvPr/>
        </p:nvSpPr>
        <p:spPr>
          <a:xfrm>
            <a:off x="1828800" y="3086100"/>
            <a:ext cx="164592" cy="0"/>
          </a:xfrm>
          <a:prstGeom prst="line">
            <a:avLst/>
          </a:prstGeom>
          <a:noFill/>
          <a:ln w="15875">
            <a:solidFill>
              <a:srgbClr val="17786F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593592" y="3086100"/>
            <a:ext cx="164592" cy="0"/>
          </a:xfrm>
          <a:prstGeom prst="line">
            <a:avLst/>
          </a:prstGeom>
          <a:noFill/>
          <a:ln w="15875">
            <a:solidFill>
              <a:srgbClr val="17786F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358384" y="3086100"/>
            <a:ext cx="201168" cy="0"/>
          </a:xfrm>
          <a:prstGeom prst="line">
            <a:avLst/>
          </a:prstGeom>
          <a:noFill/>
          <a:ln w="15875">
            <a:solidFill>
              <a:srgbClr val="17786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559552" y="2331720"/>
            <a:ext cx="0" cy="1440180"/>
          </a:xfrm>
          <a:prstGeom prst="line">
            <a:avLst/>
          </a:prstGeom>
          <a:noFill/>
          <a:ln w="15875">
            <a:solidFill>
              <a:srgbClr val="17786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9552" y="2331720"/>
            <a:ext cx="210312" cy="0"/>
          </a:xfrm>
          <a:prstGeom prst="line">
            <a:avLst/>
          </a:prstGeom>
          <a:noFill/>
          <a:ln w="15875">
            <a:solidFill>
              <a:srgbClr val="17786F"/>
            </a:solidFill>
            <a:prstDash val="solid"/>
            <a:headEnd type="none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5559552" y="3771900"/>
            <a:ext cx="210312" cy="0"/>
          </a:xfrm>
          <a:prstGeom prst="line">
            <a:avLst/>
          </a:prstGeom>
          <a:noFill/>
          <a:ln w="15875">
            <a:solidFill>
              <a:srgbClr val="17786F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690104" y="2331720"/>
            <a:ext cx="201168" cy="0"/>
          </a:xfrm>
          <a:prstGeom prst="line">
            <a:avLst/>
          </a:prstGeom>
          <a:noFill/>
          <a:ln w="15875">
            <a:solidFill>
              <a:srgbClr val="17786F"/>
            </a:solidFill>
            <a:prstDash val="solid"/>
            <a:headEnd type="none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7690104" y="3771900"/>
            <a:ext cx="201168" cy="0"/>
          </a:xfrm>
          <a:prstGeom prst="line">
            <a:avLst/>
          </a:prstGeom>
          <a:noFill/>
          <a:ln w="15875">
            <a:solidFill>
              <a:srgbClr val="17786F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7790688" y="2331720"/>
            <a:ext cx="0" cy="1440180"/>
          </a:xfrm>
          <a:prstGeom prst="line">
            <a:avLst/>
          </a:prstGeom>
          <a:noFill/>
          <a:ln w="15875">
            <a:solidFill>
              <a:srgbClr val="17786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11512" y="2331720"/>
            <a:ext cx="201168" cy="0"/>
          </a:xfrm>
          <a:prstGeom prst="line">
            <a:avLst/>
          </a:prstGeom>
          <a:noFill/>
          <a:ln w="15875">
            <a:solidFill>
              <a:srgbClr val="7A5A2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11512" y="3771900"/>
            <a:ext cx="201168" cy="0"/>
          </a:xfrm>
          <a:prstGeom prst="line">
            <a:avLst/>
          </a:prstGeom>
          <a:noFill/>
          <a:ln w="15875">
            <a:solidFill>
              <a:srgbClr val="7A5A2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012680" y="2331720"/>
            <a:ext cx="0" cy="1440180"/>
          </a:xfrm>
          <a:prstGeom prst="line">
            <a:avLst/>
          </a:prstGeom>
          <a:noFill/>
          <a:ln w="15875">
            <a:solidFill>
              <a:srgbClr val="7A5A2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>
            <a:off x="10012680" y="3086100"/>
            <a:ext cx="0" cy="0"/>
          </a:xfrm>
          <a:prstGeom prst="line">
            <a:avLst/>
          </a:prstGeom>
          <a:noFill/>
          <a:ln w="15875">
            <a:solidFill>
              <a:srgbClr val="7A5A2E"/>
            </a:solidFill>
            <a:prstDash val="solid"/>
            <a:headEnd type="none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502920" y="4791456"/>
            <a:ext cx="11183112" cy="0"/>
          </a:xfrm>
          <a:prstGeom prst="line">
            <a:avLst/>
          </a:prstGeom>
          <a:noFill/>
          <a:ln w="12700">
            <a:solidFill>
              <a:srgbClr val="1E2C3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02920" y="495604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3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objective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2514600" y="4956048"/>
            <a:ext cx="9171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DF4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L_det  =  L_focal(Ĉ, C)  +  λ_box · L1(b̂, b)  +  λ_iou · L_GIoU(b̂, b)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" y="53583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3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fusion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2514600" y="5358384"/>
            <a:ext cx="9171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DF4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 =  normalise( Σ_k  α_k · z_k ),      α  =  softmax( g(F_roi) )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02920" y="57607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3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Cross-camera similarity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2514600" y="5760720"/>
            <a:ext cx="9171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DF4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s(q, g)  =  Σ_k  v_k(q) v_k(g) · cos( z_q,k , z_g,k )   /   Σ_k  v_k(q) v_k(g)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502920" y="641908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3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EffiPed · multi-camera pedestrian detection, tracking and re-identification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8686800" y="641908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3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Aswanth Raj ·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2026-08-06T17:01:03Z</dcterms:created>
  <dcterms:modified xsi:type="dcterms:W3CDTF">2026-08-06T17:01:03Z</dcterms:modified>
</cp:coreProperties>
</file>