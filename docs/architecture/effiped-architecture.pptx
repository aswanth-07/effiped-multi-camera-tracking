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7b96a072974bfe" /><Relationship Type="http://schemas.openxmlformats.org/officeDocument/2006/relationships/extended-properties" Target="/docProps/app.xml" Id="R33e5cbd9408340ac" /><Relationship Type="http://schemas.openxmlformats.org/officeDocument/2006/relationships/officeDocument" Target="/ppt/presentation.xml" Id="R7a3a319af8f64e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5965567851485b"/>
  </p:sldMasterIdLst>
  <p:notesMasterIdLst>
    <p:notesMasterId xmlns:r="http://schemas.openxmlformats.org/officeDocument/2006/relationships" r:id="R78e09e8821b946cc"/>
  </p:notesMasterIdLst>
  <p:sldIdLst>
    <p:sldId xmlns:r="http://schemas.openxmlformats.org/officeDocument/2006/relationships" id="256" r:id="R8e52244622d445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91f402c99d4b00" /><Relationship Type="http://schemas.openxmlformats.org/officeDocument/2006/relationships/slideMaster" Target="/ppt/slideMasters/slideMaster1.xml" Id="R985965567851485b" /><Relationship Type="http://schemas.openxmlformats.org/officeDocument/2006/relationships/notesMaster" Target="/ppt/notesMasters/notesMaster1.xml" Id="R78e09e8821b946cc" /><Relationship Type="http://schemas.openxmlformats.org/officeDocument/2006/relationships/presProps" Target="/ppt/presProps.xml" Id="R864be2617d3249bf" /><Relationship Type="http://schemas.openxmlformats.org/officeDocument/2006/relationships/tableStyles" Target="/ppt/tableStyles.xml" Id="R0dbc22cdc42a4e04" /><Relationship Type="http://schemas.openxmlformats.org/officeDocument/2006/relationships/slide" Target="/ppt/slides/slide1.xml" Id="R8e52244622d445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8821f160d4d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489bba8ed343d7" /><Relationship Type="http://schemas.openxmlformats.org/officeDocument/2006/relationships/notesMaster" Target="/ppt/notesMasters/notesMaster1.xml" Id="R7114dcad23e34c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EffiPed implementation and configurations: this repository, src/effiped and configs/contest.</a:t>
            </a:r>
          </a:p>
          <a:p xmlns:a="http://schemas.openxmlformats.org/drawingml/2006/main">
            <a:r>
              <a:t>- Evidence fixture: research/results/summary.json.</a:t>
            </a:r>
          </a:p>
          <a:p xmlns:a="http://schemas.openxmlformats.org/drawingml/2006/main">
            <a:r>
              <a:t>- P-DESTRE paper: https://arxiv.org/abs/2004.02782</a:t>
            </a:r>
          </a:p>
          <a:p xmlns:a="http://schemas.openxmlformats.org/drawingml/2006/main">
            <a:r>
              <a:t>- Diagram equations are editable PowerPoint text using Cambria Math; notation summarizes implemented losses and retrieval.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1b10d9f92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441efc2e3a4f15" /><Relationship Type="http://schemas.openxmlformats.org/officeDocument/2006/relationships/slideLayout" Target="/ppt/slideLayouts/slideLayout1.xml" Id="Ra3b5543d4cb645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b5543d4cb645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8004cbdc14d9b" /><Relationship Type="http://schemas.openxmlformats.org/officeDocument/2006/relationships/notesSlide" Target="/ppt/notesSlides/notesSlide1.xml" Id="Rd307d5657d2641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B4FB52D-4728-4345-A4E1-C396A548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574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A62CB-4EB2-4BED-8474-6ACD072E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19325"/>
            <a:ext cx="9525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07765-1BCF-48B3-AC02-181B0687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57425"/>
            <a:ext cx="20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E41C0-2659-4F0C-9580-FC75DBD8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19325"/>
            <a:ext cx="9525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E63F1-557D-433B-B721-A43A0B05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57425"/>
            <a:ext cx="20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36144-0EF2-44ED-BA03-11CD2481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19325"/>
            <a:ext cx="9525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B3797-E7A6-4DC4-8EE4-55950FF2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57425"/>
            <a:ext cx="219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21741-6BF0-4271-8C92-376EE6F9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19325"/>
            <a:ext cx="9525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CCF4A-98E6-4C51-A2A4-5A432C45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57425"/>
            <a:ext cx="20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378F5-2BD9-4DA0-82A2-1CBB9F13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19325"/>
            <a:ext cx="9525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64BC3-CC29-47E3-8F2E-D01CEC78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57425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C891B-A5CF-4899-9AF9-E36B2A84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19325"/>
            <a:ext cx="9525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803A3-3F0B-43F4-84AB-40EE865C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57425"/>
            <a:ext cx="66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C0D25-AEB1-4107-9236-201413CD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19325"/>
            <a:ext cx="9525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B75E8-7551-460F-888B-E9A7A560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257425"/>
            <a:ext cx="104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94D"/>
          </a:solidFill>
          <a:ln xmlns:a="http://schemas.openxmlformats.org/drawingml/2006/main" w="0">
            <a:solidFill>
              <a:srgbClr val="E8A9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E7606-EC8A-45C6-91CA-E33AC609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19325"/>
            <a:ext cx="9525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A94D"/>
          </a:solidFill>
          <a:ln xmlns:a="http://schemas.openxmlformats.org/drawingml/2006/main" w="0">
            <a:solidFill>
              <a:srgbClr val="E8A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D525F-25C2-4BFA-992D-83D0B4A6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0A1D7-DB01-4C80-A386-9137C7EF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9525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93EB0-4EE0-4436-8259-FF25689F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724150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785E73-A901-4E43-B0C3-E1731F19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162300"/>
            <a:ext cx="9525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2518A-6103-46D1-B774-A91C1733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24150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650FC-E995-45DA-84AD-6D1A96CF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62300"/>
            <a:ext cx="9525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7E748-2384-479A-8139-5C610A46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724150"/>
            <a:ext cx="19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94D"/>
          </a:solidFill>
          <a:ln xmlns:a="http://schemas.openxmlformats.org/drawingml/2006/main" w="0">
            <a:solidFill>
              <a:srgbClr val="E8A9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9DF120-49D6-4178-A809-D7892974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62300"/>
            <a:ext cx="9525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A94D"/>
          </a:solidFill>
          <a:ln xmlns:a="http://schemas.openxmlformats.org/drawingml/2006/main" w="0">
            <a:solidFill>
              <a:srgbClr val="E8A9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006DDF-92C7-4AF0-A782-88CF5827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A3152-9D51-42DD-93D5-43ABD19D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E7144-2BAB-4BB2-AFBB-987E0F99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47C173-7514-4269-A019-B6247843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0DF5AD-A0AE-44AB-98FA-FBE231E0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E07ADD-7D59-4427-80A0-E5EC1DB9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E494F-DC6F-4A4E-B9C9-FEC0E697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FCDAD-6BCC-46F1-A3FC-D324576F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E87570-E48A-4925-9C7A-28F40602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DA2298-77C2-46B2-925D-0B46AEAD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BEB98F-911F-411C-92AA-E96E6C69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EE1B56-2252-40EE-A380-81F39EE9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D3062E-D749-4244-BCCC-9D44A112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FCB8D1-0CA8-4FDC-AE33-97151022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49036A-AF22-4F4F-BD59-7AE29F9E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6626FD-C18D-43D0-BBEC-0481A00E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0D146D-C089-4A46-948F-20ABC9C0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D9262B-2ACF-4F38-A88B-2A0093E4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906124-1730-49A3-AB72-8EAF6468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C42A14-0F81-4B3B-87B5-DCE1A2E4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2388EF-1689-4934-BA63-35F10BA0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75E17C-7F4B-41CD-8392-61E30949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B7A2A3-94EF-49BF-B55D-A4E763D1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45AD09-1AFB-4BF7-92F3-1D57F948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6A27E5-CC14-4528-82A4-131E617E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D26E43-750A-4A5C-8FFF-39380CF3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29A2A5-DC3A-4D7A-9267-B075B3C8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FFED96-37F5-4AA9-AFEE-2FD6F5DF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BD40AF-401A-466A-A27B-44C94B51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110CB6-5A9D-4BE4-87D6-E139D960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CD9613-CB2E-40D2-B54F-F1FA7C7E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EA547B-196D-4B74-BC09-35070C5D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8248A3-92B5-410C-BF48-A3DB813B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4DA09A-6134-4A5D-91A3-3A9A371B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6E45F1-C0A3-4F9D-A24E-33AC8B2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C6F137-3E40-4422-8594-EEB62DF9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523967-446D-4BD4-B895-96C0ED88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0F244E-43DA-4D8E-98C6-BF35827E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E8DE286-80E1-4870-84B3-DD5CD95F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38175"/>
            <a:ext cx="9525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645CC5-F345-424D-8EA2-A0F72B7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381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2FB67E-88C1-4668-9E53-C20EA121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429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490E08-49D9-4F2A-92B0-1B02A6A9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2477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1AF59C8-2DD7-45B7-BC6A-AA9C6395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525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2D10AF-23F9-4AB1-90B8-4E97071C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573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D88723-BE74-4DA1-AC64-DA367182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1621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1F335F-4D5C-4488-AFAB-670868D4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4669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38D4041-015F-49D8-99F7-D92F5B6B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7717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05672BA-3582-4747-A0E5-953C5226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765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2B74E59-7046-4BB0-B9BD-0A3533C7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813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F621DE-50D7-4645-A3EA-3FC69E3F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861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F919612-BAD0-421E-A3D9-04B7DD5C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9909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F104D40-A1E1-4B59-9560-24B368FB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2957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1DD5514-1FE6-495F-82EE-FE5A003E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005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0F65082-9CFC-4379-A268-E9792039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9053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C9C1A3B-1A53-4231-B8B0-FF5B3EBB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2101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0587C91-215A-4FC5-8410-E2A4983E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149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FA83E43-6658-4196-9366-06D38AC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8197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71E8A5-E40A-4142-B192-50FB0A42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124575"/>
            <a:ext cx="1173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75D2178-47F1-4DC4-B920-521A0B8C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4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4E6BD"/>
                </a:solidFill>
              </a:defRPr>
            </a:pPr>
            <a:r>
              <a:rPr sz="750" b="1">
                <a:solidFill>
                  <a:srgbClr val="24E6BD"/>
                </a:solidFill>
              </a:rPr>
              <a:t>EffiPed / SYSTEM ARCHITECTURE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BA29D9E-F7C3-4D6C-ABD1-8EB20D50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48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FAF8"/>
                </a:solidFill>
              </a:defRPr>
            </a:pPr>
            <a:r>
              <a:rPr sz="1650" b="1">
                <a:solidFill>
                  <a:srgbClr val="F0FAF8"/>
                </a:solidFill>
              </a:rPr>
              <a:t>One shared visual backbone carries a person from pixels to reviewable cross-camera evidence.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656DB1F-3B5D-4AD2-A294-2966420C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90500"/>
            <a:ext cx="17716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A94D"/>
          </a:solidFill>
          <a:ln xmlns:a="http://schemas.openxmlformats.org/drawingml/2006/main" w="0">
            <a:solidFill>
              <a:srgbClr val="E8A9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100F"/>
                </a:solidFill>
              </a:defRPr>
            </a:pPr>
            <a:r>
              <a:rPr sz="525" b="1">
                <a:solidFill>
                  <a:srgbClr val="06100F"/>
                </a:solidFill>
              </a:rPr>
              <a:t>3RD PRIZE · SIPC 2026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A4E877C-2FFF-43C5-97D2-8E1B43DA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239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9A59F"/>
                </a:solidFill>
              </a:defRPr>
            </a:pPr>
            <a:r>
              <a:rPr sz="600" b="1">
                <a:solidFill>
                  <a:srgbClr val="89A59F"/>
                </a:solidFill>
              </a:rPr>
              <a:t>01 · MULTI-CAMERA INPUT</a:t>
            </a:r>
          </a:p>
        </p:txBody>
      </p:sp>
      <p:sp>
        <p:nvSpPr>
          <p:cNvPr id="87" name="C1">
            <a:extLst xmlns:a="http://schemas.openxmlformats.org/drawingml/2006/main">
              <a:ext uri="{FF2B5EF4-FFF2-40B4-BE49-F238E27FC236}">
                <a16:creationId xmlns:a16="http://schemas.microsoft.com/office/drawing/2014/main" id="{D430B99D-FD77-4B8A-9BCE-5D76BEE2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90600"/>
            <a:ext cx="4953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A1C19"/>
          </a:solidFill>
          <a:ln xmlns:a="http://schemas.openxmlformats.org/drawingml/2006/main" w="10478">
            <a:solidFill>
              <a:srgbClr val="25554C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ED6733F-BAF0-4A5C-B132-6FFB8F02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572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FAF8"/>
                </a:solidFill>
              </a:defRPr>
            </a:pPr>
            <a:r>
              <a:rPr sz="900" b="1">
                <a:solidFill>
                  <a:srgbClr val="F0FAF8"/>
                </a:solidFill>
              </a:rPr>
              <a:t>C1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B644038-DB16-498F-A83F-96CA6457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763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89A59F"/>
                </a:solidFill>
              </a:defRPr>
            </a:pPr>
            <a:r>
              <a:rPr sz="525" b="0">
                <a:solidFill>
                  <a:srgbClr val="89A59F"/>
                </a:solidFill>
              </a:rPr>
              <a:t>t1 · RGB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F69751E-F0BE-4AE5-99DE-19CA1D35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1920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047"/>
          </a:solidFill>
          <a:ln xmlns:a="http://schemas.openxmlformats.org/drawingml/2006/main" w="4763">
            <a:solidFill>
              <a:srgbClr val="25554C"/>
            </a:solidFill>
            <a:prstDash val="solid"/>
          </a:ln>
        </p:spPr>
      </p:sp>
      <p:sp>
        <p:nvSpPr>
          <p:cNvPr id="91" name="C2">
            <a:extLst xmlns:a="http://schemas.openxmlformats.org/drawingml/2006/main">
              <a:ext uri="{FF2B5EF4-FFF2-40B4-BE49-F238E27FC236}">
                <a16:creationId xmlns:a16="http://schemas.microsoft.com/office/drawing/2014/main" id="{FCEC15CC-06F9-4865-9C49-053C7841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4953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A1C19"/>
          </a:solidFill>
          <a:ln xmlns:a="http://schemas.openxmlformats.org/drawingml/2006/main" w="10478">
            <a:solidFill>
              <a:srgbClr val="25554C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6FBF499-FEEA-48E5-9CF7-58397374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0572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FAF8"/>
                </a:solidFill>
              </a:defRPr>
            </a:pPr>
            <a:r>
              <a:rPr sz="900" b="1">
                <a:solidFill>
                  <a:srgbClr val="F0FAF8"/>
                </a:solidFill>
              </a:rPr>
              <a:t>C2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BCDDDC2-B3F3-4DB3-9657-85169BE2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763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89A59F"/>
                </a:solidFill>
              </a:defRPr>
            </a:pPr>
            <a:r>
              <a:rPr sz="525" b="0">
                <a:solidFill>
                  <a:srgbClr val="89A59F"/>
                </a:solidFill>
              </a:rPr>
              <a:t>t2 · RGB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6A574B-8663-43A0-878C-90260D18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1920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34"/>
          </a:solidFill>
          <a:ln xmlns:a="http://schemas.openxmlformats.org/drawingml/2006/main" w="4763">
            <a:solidFill>
              <a:srgbClr val="25554C"/>
            </a:solidFill>
            <a:prstDash val="solid"/>
          </a:ln>
        </p:spPr>
      </p:sp>
      <p:sp>
        <p:nvSpPr>
          <p:cNvPr id="95" name="C3">
            <a:extLst xmlns:a="http://schemas.openxmlformats.org/drawingml/2006/main">
              <a:ext uri="{FF2B5EF4-FFF2-40B4-BE49-F238E27FC236}">
                <a16:creationId xmlns:a16="http://schemas.microsoft.com/office/drawing/2014/main" id="{A3B389D6-8C29-4641-86D6-A96CBF86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562100"/>
            <a:ext cx="4953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A1C19"/>
          </a:solidFill>
          <a:ln xmlns:a="http://schemas.openxmlformats.org/drawingml/2006/main" w="10478">
            <a:solidFill>
              <a:srgbClr val="25554C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0ED2EBA-7882-45EC-B53A-8099AB25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287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FAF8"/>
                </a:solidFill>
              </a:defRPr>
            </a:pPr>
            <a:r>
              <a:rPr sz="900" b="1">
                <a:solidFill>
                  <a:srgbClr val="F0FAF8"/>
                </a:solidFill>
              </a:rPr>
              <a:t>C3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41BE75D-E46C-419A-8800-431D1E74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8478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89A59F"/>
                </a:solidFill>
              </a:defRPr>
            </a:pPr>
            <a:r>
              <a:rPr sz="525" b="0">
                <a:solidFill>
                  <a:srgbClr val="89A59F"/>
                </a:solidFill>
              </a:rPr>
              <a:t>t3 · RGB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E926955-840A-4AB2-82C8-1446624B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79070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047"/>
          </a:solidFill>
          <a:ln xmlns:a="http://schemas.openxmlformats.org/drawingml/2006/main" w="4763">
            <a:solidFill>
              <a:srgbClr val="25554C"/>
            </a:solidFill>
            <a:prstDash val="solid"/>
          </a:ln>
        </p:spPr>
      </p:sp>
      <p:sp>
        <p:nvSpPr>
          <p:cNvPr id="99" name="C4">
            <a:extLst xmlns:a="http://schemas.openxmlformats.org/drawingml/2006/main">
              <a:ext uri="{FF2B5EF4-FFF2-40B4-BE49-F238E27FC236}">
                <a16:creationId xmlns:a16="http://schemas.microsoft.com/office/drawing/2014/main" id="{3216A280-5F8C-4125-A744-E428820D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4953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A1C19"/>
          </a:solidFill>
          <a:ln xmlns:a="http://schemas.openxmlformats.org/drawingml/2006/main" w="10478">
            <a:solidFill>
              <a:srgbClr val="25554C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2520F37-E445-49D8-A26B-0C0D0A05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FAF8"/>
                </a:solidFill>
              </a:defRPr>
            </a:pPr>
            <a:r>
              <a:rPr sz="900" b="1">
                <a:solidFill>
                  <a:srgbClr val="F0FAF8"/>
                </a:solidFill>
              </a:rPr>
              <a:t>C4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5D20003-F791-4A49-BC02-7DBEF6AF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048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89A59F"/>
                </a:solidFill>
              </a:defRPr>
            </a:pPr>
            <a:r>
              <a:rPr sz="525" b="0">
                <a:solidFill>
                  <a:srgbClr val="89A59F"/>
                </a:solidFill>
              </a:rPr>
              <a:t>t4 · RGB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9E866BB-ABB2-4807-ACD1-4C93A7B3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9070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C34"/>
          </a:solidFill>
          <a:ln xmlns:a="http://schemas.openxmlformats.org/drawingml/2006/main" w="4763">
            <a:solidFill>
              <a:srgbClr val="25554C"/>
            </a:solidFill>
            <a:prstDash val="solid"/>
          </a:ln>
        </p:spPr>
      </p:sp>
      <p:sp>
        <p:nvSpPr>
          <p:cNvPr id="103" name="SYNC + LETTERBOX">
            <a:extLst xmlns:a="http://schemas.openxmlformats.org/drawingml/2006/main">
              <a:ext uri="{FF2B5EF4-FFF2-40B4-BE49-F238E27FC236}">
                <a16:creationId xmlns:a16="http://schemas.microsoft.com/office/drawing/2014/main" id="{955EBA7F-62F6-45F7-9365-FE43B3C8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33600"/>
            <a:ext cx="1095375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D2B26"/>
          </a:solidFill>
          <a:ln xmlns:a="http://schemas.openxmlformats.org/drawingml/2006/main" w="10478">
            <a:solidFill>
              <a:srgbClr val="24E6BD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9C2D4EE-24D7-4177-98C0-30AA21EA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00275"/>
            <a:ext cx="90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FAF8"/>
                </a:solidFill>
              </a:defRPr>
            </a:pPr>
            <a:r>
              <a:rPr sz="750" b="1">
                <a:solidFill>
                  <a:srgbClr val="F0FAF8"/>
                </a:solidFill>
              </a:rPr>
              <a:t>SYNC + LETTERBOX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A144DED-D6D7-4E8D-B3EC-9F8C2B38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19350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9A59F"/>
                </a:solidFill>
              </a:defRPr>
            </a:pPr>
            <a:r>
              <a:rPr sz="563" b="0">
                <a:solidFill>
                  <a:srgbClr val="89A59F"/>
                </a:solidFill>
              </a:rPr>
              <a:t>1088×608 · normalize</a:t>
            </a:r>
          </a:p>
          <a:p xmlns:a="http://schemas.openxmlformats.org/drawingml/2006/main">
            <a:pPr algn="l">
              <a:defRPr sz="563" b="0">
                <a:solidFill>
                  <a:srgbClr val="89A59F"/>
                </a:solidFill>
              </a:defRPr>
            </a:pPr>
            <a:r>
              <a:rPr sz="563" b="0">
                <a:solidFill>
                  <a:srgbClr val="89A59F"/>
                </a:solidFill>
              </a:rPr>
              <a:t>camera/time metadata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F4C23FB-0822-4866-977A-67D2996D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23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9A59F"/>
                </a:solidFill>
              </a:defRPr>
            </a:pPr>
            <a:r>
              <a:rPr sz="600" b="1">
                <a:solidFill>
                  <a:srgbClr val="89A59F"/>
                </a:solidFill>
              </a:rPr>
              <a:t>02 · SHARED CONVNEXT V2 FEATURES</a:t>
            </a:r>
          </a:p>
        </p:txBody>
      </p:sp>
      <p:sp>
        <p:nvSpPr>
          <p:cNvPr id="107" name="STEM + STAGES">
            <a:extLst xmlns:a="http://schemas.openxmlformats.org/drawingml/2006/main">
              <a:ext uri="{FF2B5EF4-FFF2-40B4-BE49-F238E27FC236}">
                <a16:creationId xmlns:a16="http://schemas.microsoft.com/office/drawing/2014/main" id="{7E7C77BE-D366-4846-9880-96369B34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990600"/>
            <a:ext cx="1047750" cy="17335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A1B26"/>
          </a:solidFill>
          <a:ln xmlns:a="http://schemas.openxmlformats.org/drawingml/2006/main" w="10478">
            <a:solidFill>
              <a:srgbClr val="55AF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F5BD776-BC71-4CB9-88C3-426C928C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0572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FAF8"/>
                </a:solidFill>
              </a:defRPr>
            </a:pPr>
            <a:r>
              <a:rPr sz="825" b="1">
                <a:solidFill>
                  <a:srgbClr val="F0FAF8"/>
                </a:solidFill>
              </a:rPr>
              <a:t>STEM + STAGES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273942E-7754-4CCD-9CDA-860E263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343025"/>
            <a:ext cx="72390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64463"/>
          </a:solidFill>
          <a:ln xmlns:a="http://schemas.openxmlformats.org/drawingml/2006/main" w="5715">
            <a:solidFill>
              <a:srgbClr val="55A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1C3280D-87AB-4A5A-B7A3-5D5782A4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4302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03" b="0">
                <a:solidFill>
                  <a:srgbClr val="F0FAF8"/>
                </a:solidFill>
              </a:defRPr>
            </a:pPr>
            <a:r>
              <a:rPr sz="503" b="0">
                <a:solidFill>
                  <a:srgbClr val="F0FAF8"/>
                </a:solidFill>
              </a:rPr>
              <a:t>C1 /4 · edges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C142A2A-66F4-4CFB-B6FE-9BFF26EF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619250"/>
            <a:ext cx="72390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8566B"/>
          </a:solidFill>
          <a:ln xmlns:a="http://schemas.openxmlformats.org/drawingml/2006/main" w="5715">
            <a:solidFill>
              <a:srgbClr val="55AF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BA0CC47-EEF9-41A1-A084-EF568A68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192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03" b="0">
                <a:solidFill>
                  <a:srgbClr val="F0FAF8"/>
                </a:solidFill>
              </a:defRPr>
            </a:pPr>
            <a:r>
              <a:rPr sz="503" b="0">
                <a:solidFill>
                  <a:srgbClr val="F0FAF8"/>
                </a:solidFill>
              </a:rPr>
              <a:t>C2 /8 · texture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06ABE7D-0F5E-48F1-A634-2CA98CB6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895475"/>
            <a:ext cx="72390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97165"/>
          </a:solidFill>
          <a:ln xmlns:a="http://schemas.openxmlformats.org/drawingml/2006/main" w="5715">
            <a:solidFill>
              <a:srgbClr val="55AF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DA9B52E-C781-441C-9614-7449B635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954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03" b="0">
                <a:solidFill>
                  <a:srgbClr val="F0FAF8"/>
                </a:solidFill>
              </a:defRPr>
            </a:pPr>
            <a:r>
              <a:rPr sz="503" b="0">
                <a:solidFill>
                  <a:srgbClr val="F0FAF8"/>
                </a:solidFill>
              </a:rPr>
              <a:t>C3 /16 · semantics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9972C34-9571-4D39-82A7-4C9D7103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71700"/>
            <a:ext cx="72390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18A71"/>
          </a:solidFill>
          <a:ln xmlns:a="http://schemas.openxmlformats.org/drawingml/2006/main" w="5715">
            <a:solidFill>
              <a:srgbClr val="55A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0072F3E-BC1C-4BD8-AE00-9D24E928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717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03" b="0">
                <a:solidFill>
                  <a:srgbClr val="F0FAF8"/>
                </a:solidFill>
              </a:defRPr>
            </a:pPr>
            <a:r>
              <a:rPr sz="503" b="0">
                <a:solidFill>
                  <a:srgbClr val="F0FAF8"/>
                </a:solidFill>
              </a:rPr>
              <a:t>C4 /32 · context</a:t>
            </a:r>
          </a:p>
        </p:txBody>
      </p:sp>
      <p:sp>
        <p:nvSpPr>
          <p:cNvPr id="117" name="P2 / P3 TAP">
            <a:extLst xmlns:a="http://schemas.openxmlformats.org/drawingml/2006/main">
              <a:ext uri="{FF2B5EF4-FFF2-40B4-BE49-F238E27FC236}">
                <a16:creationId xmlns:a16="http://schemas.microsoft.com/office/drawing/2014/main" id="{A701A00E-3596-4B25-82FB-418EA28B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28750"/>
            <a:ext cx="1028700" cy="1295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A211D"/>
          </a:solidFill>
          <a:ln xmlns:a="http://schemas.openxmlformats.org/drawingml/2006/main" w="10478">
            <a:solidFill>
              <a:srgbClr val="24E6BD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DAE8BFF-93AF-4D48-B34B-5E00D9A9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95425"/>
            <a:ext cx="838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FAF8"/>
                </a:solidFill>
              </a:defRPr>
            </a:pPr>
            <a:r>
              <a:rPr sz="825" b="1">
                <a:solidFill>
                  <a:srgbClr val="F0FAF8"/>
                </a:solidFill>
              </a:rPr>
              <a:t>P2 / P3 TAP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E10D56A-BB3E-43B8-836E-83CBD344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14500"/>
            <a:ext cx="838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89A59F"/>
                </a:solidFill>
              </a:defRPr>
            </a:pPr>
            <a:r>
              <a:rPr sz="615" b="0">
                <a:solidFill>
                  <a:srgbClr val="89A59F"/>
                </a:solidFill>
              </a:rPr>
              <a:t>stride-4 detail</a:t>
            </a:r>
          </a:p>
          <a:p xmlns:a="http://schemas.openxmlformats.org/drawingml/2006/main">
            <a:pPr algn="l">
              <a:defRPr sz="615" b="0">
                <a:solidFill>
                  <a:srgbClr val="89A59F"/>
                </a:solidFill>
              </a:defRPr>
            </a:pPr>
            <a:r>
              <a:rPr sz="615" b="0">
                <a:solidFill>
                  <a:srgbClr val="89A59F"/>
                </a:solidFill>
              </a:rPr>
              <a:t>stride-8 context</a:t>
            </a:r>
          </a:p>
          <a:p xmlns:a="http://schemas.openxmlformats.org/drawingml/2006/main">
            <a:pPr algn="l">
              <a:defRPr sz="615" b="0">
                <a:solidFill>
                  <a:srgbClr val="89A59F"/>
                </a:solidFill>
              </a:defRPr>
            </a:pPr>
            <a:r>
              <a:rPr sz="615" b="0">
                <a:solidFill>
                  <a:srgbClr val="89A59F"/>
                </a:solidFill>
              </a:rPr>
              <a:t>shared by both tasks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457A388-8404-4E58-8BDD-753CA153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723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9A59F"/>
                </a:solidFill>
              </a:defRPr>
            </a:pPr>
            <a:r>
              <a:rPr sz="600" b="1">
                <a:solidFill>
                  <a:srgbClr val="89A59F"/>
                </a:solidFill>
              </a:rPr>
              <a:t>03 · MULTI-SCALE FUSION</a:t>
            </a:r>
          </a:p>
        </p:txBody>
      </p:sp>
      <p:sp>
        <p:nvSpPr>
          <p:cNvPr id="121" name="P2/P3 FUSION">
            <a:extLst xmlns:a="http://schemas.openxmlformats.org/drawingml/2006/main">
              <a:ext uri="{FF2B5EF4-FFF2-40B4-BE49-F238E27FC236}">
                <a16:creationId xmlns:a16="http://schemas.microsoft.com/office/drawing/2014/main" id="{ACFC1AC4-2342-49A1-A083-D666ED00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14450"/>
            <a:ext cx="1162050" cy="14097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E302A"/>
          </a:solidFill>
          <a:ln xmlns:a="http://schemas.openxmlformats.org/drawingml/2006/main" w="10478">
            <a:solidFill>
              <a:srgbClr val="24E6BD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9E9452D-7B64-4FE6-A47D-EB270336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81125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FAF8"/>
                </a:solidFill>
              </a:defRPr>
            </a:pPr>
            <a:r>
              <a:rPr sz="825" b="1">
                <a:solidFill>
                  <a:srgbClr val="F0FAF8"/>
                </a:solidFill>
              </a:rPr>
              <a:t>P2/P3 FUSION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A57F2F6-4283-4524-A4DC-B7A19AC9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00200"/>
            <a:ext cx="971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89A59F"/>
                </a:solidFill>
              </a:defRPr>
            </a:pPr>
            <a:r>
              <a:rPr sz="607" b="0">
                <a:solidFill>
                  <a:srgbClr val="89A59F"/>
                </a:solidFill>
              </a:rPr>
              <a:t>P3 depthwise refine</a:t>
            </a:r>
          </a:p>
          <a:p xmlns:a="http://schemas.openxmlformats.org/drawingml/2006/main">
            <a:pPr algn="l">
              <a:defRPr sz="607" b="0">
                <a:solidFill>
                  <a:srgbClr val="89A59F"/>
                </a:solidFill>
              </a:defRPr>
            </a:pPr>
            <a:r>
              <a:rPr sz="607" b="0">
                <a:solidFill>
                  <a:srgbClr val="89A59F"/>
                </a:solidFill>
              </a:rPr>
              <a:t>2× upsample</a:t>
            </a:r>
          </a:p>
          <a:p xmlns:a="http://schemas.openxmlformats.org/drawingml/2006/main">
            <a:pPr algn="l">
              <a:defRPr sz="607" b="0">
                <a:solidFill>
                  <a:srgbClr val="89A59F"/>
                </a:solidFill>
              </a:defRPr>
            </a:pPr>
            <a:r>
              <a:rPr sz="607" b="0">
                <a:solidFill>
                  <a:srgbClr val="89A59F"/>
                </a:solidFill>
              </a:rPr>
              <a:t>weighted P2 merge</a:t>
            </a:r>
          </a:p>
          <a:p xmlns:a="http://schemas.openxmlformats.org/drawingml/2006/main">
            <a:pPr algn="l">
              <a:defRPr sz="607" b="0">
                <a:solidFill>
                  <a:srgbClr val="89A59F"/>
                </a:solidFill>
              </a:defRPr>
            </a:pPr>
            <a:r>
              <a:rPr sz="607" b="0">
                <a:solidFill>
                  <a:srgbClr val="89A59F"/>
                </a:solidFill>
              </a:rPr>
              <a:t>256 channels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49B307E-9A91-4454-83FB-73FE2E68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715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8CF8DF"/>
                </a:solidFill>
              </a:defRPr>
            </a:pPr>
            <a:r>
              <a:rPr sz="600" b="0">
                <a:solidFill>
                  <a:srgbClr val="8CF8DF"/>
                </a:solidFill>
              </a:rPr>
              <a:t>fine localization +</a:t>
            </a:r>
          </a:p>
          <a:p xmlns:a="http://schemas.openxmlformats.org/drawingml/2006/main">
            <a:pPr algn="ctr">
              <a:defRPr sz="600" b="0">
                <a:solidFill>
                  <a:srgbClr val="8CF8DF"/>
                </a:solidFill>
              </a:defRPr>
            </a:pPr>
            <a:r>
              <a:rPr sz="600" b="0">
                <a:solidFill>
                  <a:srgbClr val="8CF8DF"/>
                </a:solidFill>
              </a:rPr>
              <a:t>semantic appearance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76CAD53-6BD3-4C88-A254-DD08C140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723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9A59F"/>
                </a:solidFill>
              </a:defRPr>
            </a:pPr>
            <a:r>
              <a:rPr sz="600" b="1">
                <a:solidFill>
                  <a:srgbClr val="89A59F"/>
                </a:solidFill>
              </a:rPr>
              <a:t>04 · JOINT OUTPUTS</a:t>
            </a:r>
          </a:p>
        </p:txBody>
      </p:sp>
      <p:sp>
        <p:nvSpPr>
          <p:cNvPr id="126" name="CENTERNET">
            <a:extLst xmlns:a="http://schemas.openxmlformats.org/drawingml/2006/main">
              <a:ext uri="{FF2B5EF4-FFF2-40B4-BE49-F238E27FC236}">
                <a16:creationId xmlns:a16="http://schemas.microsoft.com/office/drawing/2014/main" id="{D02A78EA-6814-4B69-937C-B4CED842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104900"/>
            <a:ext cx="1162050" cy="16192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2A171A"/>
          </a:solidFill>
          <a:ln xmlns:a="http://schemas.openxmlformats.org/drawingml/2006/main" w="10478">
            <a:solidFill>
              <a:srgbClr val="FF6A76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C9451D7-03EF-4373-88F5-3D0BD410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171575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FAF8"/>
                </a:solidFill>
              </a:defRPr>
            </a:pPr>
            <a:r>
              <a:rPr sz="825" b="1">
                <a:solidFill>
                  <a:srgbClr val="F0FAF8"/>
                </a:solidFill>
              </a:rPr>
              <a:t>CENTERNET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DC3AD55-27D5-420F-8764-884D2328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390650"/>
            <a:ext cx="9715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89A59F"/>
                </a:solidFill>
              </a:defRPr>
            </a:pPr>
            <a:r>
              <a:rPr sz="653" b="0">
                <a:solidFill>
                  <a:srgbClr val="89A59F"/>
                </a:solidFill>
              </a:rPr>
              <a:t>heatmap  Ĉ</a:t>
            </a:r>
          </a:p>
          <a:p xmlns:a="http://schemas.openxmlformats.org/drawingml/2006/main">
            <a:pPr algn="l">
              <a:defRPr sz="653" b="0">
                <a:solidFill>
                  <a:srgbClr val="89A59F"/>
                </a:solidFill>
              </a:defRPr>
            </a:pPr>
            <a:r>
              <a:rPr sz="653" b="0">
                <a:solidFill>
                  <a:srgbClr val="89A59F"/>
                </a:solidFill>
              </a:rPr>
              <a:t>LTRB box  b̂</a:t>
            </a:r>
          </a:p>
          <a:p xmlns:a="http://schemas.openxmlformats.org/drawingml/2006/main">
            <a:pPr algn="l">
              <a:defRPr sz="653" b="0">
                <a:solidFill>
                  <a:srgbClr val="89A59F"/>
                </a:solidFill>
              </a:defRPr>
            </a:pPr>
            <a:r>
              <a:rPr sz="653" b="0">
                <a:solidFill>
                  <a:srgbClr val="89A59F"/>
                </a:solidFill>
              </a:rPr>
              <a:t>offset  ô</a:t>
            </a:r>
          </a:p>
          <a:p xmlns:a="http://schemas.openxmlformats.org/drawingml/2006/main">
            <a:pPr algn="l">
              <a:defRPr sz="653" b="0">
                <a:solidFill>
                  <a:srgbClr val="89A59F"/>
                </a:solidFill>
              </a:defRPr>
            </a:pPr>
            <a:r>
              <a:rPr sz="653" b="0">
                <a:solidFill>
                  <a:srgbClr val="89A59F"/>
                </a:solidFill>
              </a:rPr>
              <a:t>IoU quality  q̂</a:t>
            </a:r>
          </a:p>
        </p:txBody>
      </p:sp>
      <p:sp>
        <p:nvSpPr>
          <p:cNvPr id="129" name="ROI IDENTITY">
            <a:extLst xmlns:a="http://schemas.openxmlformats.org/drawingml/2006/main">
              <a:ext uri="{FF2B5EF4-FFF2-40B4-BE49-F238E27FC236}">
                <a16:creationId xmlns:a16="http://schemas.microsoft.com/office/drawing/2014/main" id="{600082A1-DF5F-4627-AA31-F6FDF659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104900"/>
            <a:ext cx="1238250" cy="1619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A211D"/>
          </a:solidFill>
          <a:ln xmlns:a="http://schemas.openxmlformats.org/drawingml/2006/main" w="10478">
            <a:solidFill>
              <a:srgbClr val="24E6BD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E0A7A12-6AF4-4704-9BE6-4DA7C59C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171575"/>
            <a:ext cx="104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FAF8"/>
                </a:solidFill>
              </a:defRPr>
            </a:pPr>
            <a:r>
              <a:rPr sz="825" b="1">
                <a:solidFill>
                  <a:srgbClr val="F0FAF8"/>
                </a:solidFill>
              </a:rPr>
              <a:t>ROI IDENTITY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79A430A-A012-411C-81CB-C3E30830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390650"/>
            <a:ext cx="1047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89A59F"/>
                </a:solidFill>
              </a:defRPr>
            </a:pPr>
            <a:r>
              <a:rPr sz="630" b="0">
                <a:solidFill>
                  <a:srgbClr val="89A59F"/>
                </a:solidFill>
              </a:rPr>
              <a:t>RoIAlign 32×8</a:t>
            </a:r>
          </a:p>
          <a:p xmlns:a="http://schemas.openxmlformats.org/drawingml/2006/main">
            <a:pPr algn="l">
              <a:defRPr sz="630" b="0">
                <a:solidFill>
                  <a:srgbClr val="89A59F"/>
                </a:solidFill>
              </a:defRPr>
            </a:pPr>
            <a:r>
              <a:rPr sz="630" b="0">
                <a:solidFill>
                  <a:srgbClr val="89A59F"/>
                </a:solidFill>
              </a:rPr>
              <a:t>shared 256-D map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2A6D0A6-B8A8-46DD-AE24-8EAFEFBB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857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94D"/>
          </a:solidFill>
          <a:ln xmlns:a="http://schemas.openxmlformats.org/drawingml/2006/main" w="4763">
            <a:solidFill>
              <a:srgbClr val="06100F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E6E18DE-0BFD-4408-A8BE-BC9537B9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09825"/>
            <a:ext cx="857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4763">
            <a:solidFill>
              <a:srgbClr val="06100F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713B189-D8B8-4011-96ED-C5BEFC7F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14600"/>
            <a:ext cx="857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4763">
            <a:solidFill>
              <a:srgbClr val="06100F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B593828-3CC2-4D8F-BDBF-A6A8176C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19375"/>
            <a:ext cx="857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FF"/>
          </a:solidFill>
          <a:ln xmlns:a="http://schemas.openxmlformats.org/drawingml/2006/main" w="4763">
            <a:solidFill>
              <a:srgbClr val="06100F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5E972E0-06C0-4983-ADA5-3DC3B739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23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9A59F"/>
                </a:solidFill>
              </a:defRPr>
            </a:pPr>
            <a:r>
              <a:rPr sz="600" b="1">
                <a:solidFill>
                  <a:srgbClr val="89A59F"/>
                </a:solidFill>
              </a:rPr>
              <a:t>05 · PART FUSION</a:t>
            </a:r>
          </a:p>
        </p:txBody>
      </p:sp>
      <p:sp>
        <p:nvSpPr>
          <p:cNvPr id="137" name="COORDATTN">
            <a:extLst xmlns:a="http://schemas.openxmlformats.org/drawingml/2006/main">
              <a:ext uri="{FF2B5EF4-FFF2-40B4-BE49-F238E27FC236}">
                <a16:creationId xmlns:a16="http://schemas.microsoft.com/office/drawing/2014/main" id="{24DDD0B8-1BAC-4D1F-96EF-9DBAC345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04900"/>
            <a:ext cx="1143000" cy="1619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F2A"/>
          </a:solidFill>
          <a:ln xmlns:a="http://schemas.openxmlformats.org/drawingml/2006/main" w="10478">
            <a:solidFill>
              <a:srgbClr val="24E6BD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C3FEEB9-DB41-49D7-A862-2B073F13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1715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FAF8"/>
                </a:solidFill>
              </a:defRPr>
            </a:pPr>
            <a:r>
              <a:rPr sz="825" b="1">
                <a:solidFill>
                  <a:srgbClr val="F0FAF8"/>
                </a:solidFill>
              </a:rPr>
              <a:t>COORDATTN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3B940F1-46E3-437D-9B99-808DE282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90650"/>
            <a:ext cx="952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89A59F"/>
                </a:solidFill>
              </a:defRPr>
            </a:pPr>
            <a:r>
              <a:rPr sz="630" b="0">
                <a:solidFill>
                  <a:srgbClr val="89A59F"/>
                </a:solidFill>
              </a:rPr>
              <a:t>αk from spatial cues</a:t>
            </a:r>
          </a:p>
          <a:p xmlns:a="http://schemas.openxmlformats.org/drawingml/2006/main">
            <a:pPr algn="l">
              <a:defRPr sz="630" b="0">
                <a:solidFill>
                  <a:srgbClr val="89A59F"/>
                </a:solidFill>
              </a:defRPr>
            </a:pPr>
            <a:r>
              <a:rPr sz="630" b="0">
                <a:solidFill>
                  <a:srgbClr val="89A59F"/>
                </a:solidFill>
              </a:rPr>
              <a:t>weighted strip fusion</a:t>
            </a:r>
          </a:p>
          <a:p xmlns:a="http://schemas.openxmlformats.org/drawingml/2006/main">
            <a:pPr algn="l">
              <a:defRPr sz="630" b="0">
                <a:solidFill>
                  <a:srgbClr val="89A59F"/>
                </a:solidFill>
              </a:defRPr>
            </a:pPr>
            <a:r>
              <a:rPr sz="630" b="0">
                <a:solidFill>
                  <a:srgbClr val="89A59F"/>
                </a:solidFill>
              </a:rPr>
              <a:t>BNNeck + L2 norm</a:t>
            </a:r>
          </a:p>
          <a:p xmlns:a="http://schemas.openxmlformats.org/drawingml/2006/main">
            <a:pPr algn="l">
              <a:defRPr sz="630" b="0">
                <a:solidFill>
                  <a:srgbClr val="89A59F"/>
                </a:solidFill>
              </a:defRPr>
            </a:pPr>
            <a:r>
              <a:rPr sz="630" b="0">
                <a:solidFill>
                  <a:srgbClr val="89A59F"/>
                </a:solidFill>
              </a:rPr>
              <a:t>z ∈ ℝ²⁵⁶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D2110D3-3449-4EB2-B52F-D7B749A3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495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7D7D442-2E46-42B5-A63C-E4485330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08665BB-2C77-4B6F-87F6-0914510C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78C35F1-945F-4DCF-A8EF-54940D92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19350"/>
            <a:ext cx="3714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E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0A013CD-4531-47F4-B02F-57D3F2D4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723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9A59F"/>
                </a:solidFill>
              </a:defRPr>
            </a:pPr>
            <a:r>
              <a:rPr sz="600" b="1">
                <a:solidFill>
                  <a:srgbClr val="89A59F"/>
                </a:solidFill>
              </a:rPr>
              <a:t>06 · ASSOCIATION</a:t>
            </a:r>
          </a:p>
        </p:txBody>
      </p:sp>
      <p:sp>
        <p:nvSpPr>
          <p:cNvPr id="145" name="BoT-SORT">
            <a:extLst xmlns:a="http://schemas.openxmlformats.org/drawingml/2006/main">
              <a:ext uri="{FF2B5EF4-FFF2-40B4-BE49-F238E27FC236}">
                <a16:creationId xmlns:a16="http://schemas.microsoft.com/office/drawing/2014/main" id="{44FA1069-E8F9-44D9-8B40-DA6390DD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04900"/>
            <a:ext cx="952500" cy="1619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A1B26"/>
          </a:solidFill>
          <a:ln xmlns:a="http://schemas.openxmlformats.org/drawingml/2006/main" w="10478">
            <a:solidFill>
              <a:srgbClr val="55AFFF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C34409F-62E7-4DB4-AA20-16118948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171575"/>
            <a:ext cx="76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0FAF8"/>
                </a:solidFill>
              </a:defRPr>
            </a:pPr>
            <a:r>
              <a:rPr sz="825" b="1">
                <a:solidFill>
                  <a:srgbClr val="F0FAF8"/>
                </a:solidFill>
              </a:rPr>
              <a:t>BoT-SORT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415DC66-E159-4C46-95B2-871142A1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390650"/>
            <a:ext cx="762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7" b="0">
                <a:solidFill>
                  <a:srgbClr val="89A59F"/>
                </a:solidFill>
              </a:defRPr>
            </a:pPr>
            <a:r>
              <a:rPr sz="607" b="0">
                <a:solidFill>
                  <a:srgbClr val="89A59F"/>
                </a:solidFill>
              </a:rPr>
              <a:t>Kalman motion</a:t>
            </a:r>
          </a:p>
          <a:p xmlns:a="http://schemas.openxmlformats.org/drawingml/2006/main">
            <a:pPr algn="l">
              <a:defRPr sz="607" b="0">
                <a:solidFill>
                  <a:srgbClr val="89A59F"/>
                </a:solidFill>
              </a:defRPr>
            </a:pPr>
            <a:r>
              <a:rPr sz="607" b="0">
                <a:solidFill>
                  <a:srgbClr val="89A59F"/>
                </a:solidFill>
              </a:rPr>
              <a:t>IoU cascade</a:t>
            </a:r>
          </a:p>
          <a:p xmlns:a="http://schemas.openxmlformats.org/drawingml/2006/main">
            <a:pPr algn="l">
              <a:defRPr sz="607" b="0">
                <a:solidFill>
                  <a:srgbClr val="89A59F"/>
                </a:solidFill>
              </a:defRPr>
            </a:pPr>
            <a:r>
              <a:rPr sz="607" b="0">
                <a:solidFill>
                  <a:srgbClr val="89A59F"/>
                </a:solidFill>
              </a:rPr>
              <a:t>cosine gallery</a:t>
            </a:r>
          </a:p>
          <a:p xmlns:a="http://schemas.openxmlformats.org/drawingml/2006/main">
            <a:pPr algn="l">
              <a:defRPr sz="607" b="0">
                <a:solidFill>
                  <a:srgbClr val="89A59F"/>
                </a:solidFill>
              </a:defRPr>
            </a:pPr>
            <a:r>
              <a:rPr sz="607" b="0">
                <a:solidFill>
                  <a:srgbClr val="89A59F"/>
                </a:solidFill>
              </a:rPr>
              <a:t>local track IDs</a:t>
            </a:r>
          </a:p>
        </p:txBody>
      </p:sp>
      <p:sp>
        <p:nvSpPr>
          <p:cNvPr id="148" name="GLOBAL">
            <a:extLst xmlns:a="http://schemas.openxmlformats.org/drawingml/2006/main">
              <a:ext uri="{FF2B5EF4-FFF2-40B4-BE49-F238E27FC236}">
                <a16:creationId xmlns:a16="http://schemas.microsoft.com/office/drawing/2014/main" id="{E47E941C-E910-45EE-9032-49597ADD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104900"/>
            <a:ext cx="819150" cy="16192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2A2215"/>
          </a:solidFill>
          <a:ln xmlns:a="http://schemas.openxmlformats.org/drawingml/2006/main" w="10478">
            <a:solidFill>
              <a:srgbClr val="E8A94D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79DFBA3-2455-400D-9E5C-34936919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171575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0FAF8"/>
                </a:solidFill>
              </a:defRPr>
            </a:pPr>
            <a:r>
              <a:rPr sz="713" b="1">
                <a:solidFill>
                  <a:srgbClr val="F0FAF8"/>
                </a:solidFill>
              </a:rPr>
              <a:t>GLOBAL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3BB9EC0-8E9A-4E63-ACF0-679B8DAA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390650"/>
            <a:ext cx="6286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55" b="0">
                <a:solidFill>
                  <a:srgbClr val="89A59F"/>
                </a:solidFill>
              </a:defRPr>
            </a:pPr>
            <a:r>
              <a:rPr sz="555" b="0">
                <a:solidFill>
                  <a:srgbClr val="89A59F"/>
                </a:solidFill>
              </a:rPr>
              <a:t>top-k ranking</a:t>
            </a:r>
          </a:p>
          <a:p xmlns:a="http://schemas.openxmlformats.org/drawingml/2006/main">
            <a:pPr algn="ctr">
              <a:defRPr sz="555" b="0">
                <a:solidFill>
                  <a:srgbClr val="89A59F"/>
                </a:solidFill>
              </a:defRPr>
            </a:pPr>
            <a:r>
              <a:rPr sz="555" b="0">
                <a:solidFill>
                  <a:srgbClr val="89A59F"/>
                </a:solidFill>
              </a:rPr>
              <a:t>cross-camera</a:t>
            </a:r>
          </a:p>
          <a:p xmlns:a="http://schemas.openxmlformats.org/drawingml/2006/main">
            <a:pPr algn="ctr">
              <a:defRPr sz="555" b="0">
                <a:solidFill>
                  <a:srgbClr val="89A59F"/>
                </a:solidFill>
              </a:defRPr>
            </a:pPr>
            <a:r>
              <a:rPr sz="555" b="0">
                <a:solidFill>
                  <a:srgbClr val="89A59F"/>
                </a:solidFill>
              </a:rPr>
              <a:t>candidates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7EF52F4-7F1D-42D4-9153-6FF9FD03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9A59F"/>
                </a:solidFill>
              </a:defRPr>
            </a:pPr>
            <a:r>
              <a:rPr sz="600" b="1">
                <a:solidFill>
                  <a:srgbClr val="89A59F"/>
                </a:solidFill>
              </a:rPr>
              <a:t>07 · REVIEWABLE OUTPUTS</a:t>
            </a:r>
          </a:p>
        </p:txBody>
      </p:sp>
      <p:sp>
        <p:nvSpPr>
          <p:cNvPr id="152" name="DETECTIONS">
            <a:extLst xmlns:a="http://schemas.openxmlformats.org/drawingml/2006/main">
              <a:ext uri="{FF2B5EF4-FFF2-40B4-BE49-F238E27FC236}">
                <a16:creationId xmlns:a16="http://schemas.microsoft.com/office/drawing/2014/main" id="{2575958F-0C10-4BCC-9E5C-D6A44FD3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38500"/>
            <a:ext cx="116205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A211D"/>
          </a:solidFill>
          <a:ln xmlns:a="http://schemas.openxmlformats.org/drawingml/2006/main" w="10478">
            <a:solidFill>
              <a:srgbClr val="FF6A76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595947D-A6EB-4B31-8EC5-1C5B9B5D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05175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FAF8"/>
                </a:solidFill>
              </a:defRPr>
            </a:pPr>
            <a:r>
              <a:rPr sz="750" b="1">
                <a:solidFill>
                  <a:srgbClr val="F0FAF8"/>
                </a:solidFill>
              </a:rPr>
              <a:t>DETECTIONS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87ECE0A-4A81-47DE-A843-16AEB7B4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24250"/>
            <a:ext cx="97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9A59F"/>
                </a:solidFill>
              </a:defRPr>
            </a:pPr>
            <a:r>
              <a:rPr sz="600" b="0">
                <a:solidFill>
                  <a:srgbClr val="89A59F"/>
                </a:solidFill>
              </a:rPr>
              <a:t>{x₁,y₁,x₂,y₂}</a:t>
            </a:r>
          </a:p>
          <a:p xmlns:a="http://schemas.openxmlformats.org/drawingml/2006/main">
            <a:pPr algn="l">
              <a:defRPr sz="600" b="0">
                <a:solidFill>
                  <a:srgbClr val="89A59F"/>
                </a:solidFill>
              </a:defRPr>
            </a:pPr>
            <a:r>
              <a:rPr sz="600" b="0">
                <a:solidFill>
                  <a:srgbClr val="89A59F"/>
                </a:solidFill>
              </a:rPr>
              <a:t>confidence · frame</a:t>
            </a:r>
          </a:p>
        </p:txBody>
      </p:sp>
      <p:sp>
        <p:nvSpPr>
          <p:cNvPr id="155" name="LOCAL TRACKS">
            <a:extLst xmlns:a="http://schemas.openxmlformats.org/drawingml/2006/main">
              <a:ext uri="{FF2B5EF4-FFF2-40B4-BE49-F238E27FC236}">
                <a16:creationId xmlns:a16="http://schemas.microsoft.com/office/drawing/2014/main" id="{EED974A5-EDD2-4FB8-BD4A-848AAAA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38500"/>
            <a:ext cx="123825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A211D"/>
          </a:solidFill>
          <a:ln xmlns:a="http://schemas.openxmlformats.org/drawingml/2006/main" w="10478">
            <a:solidFill>
              <a:srgbClr val="55AFFF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CB844DA-C3FE-4499-8DF4-0464B082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104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0FAF8"/>
                </a:solidFill>
              </a:defRPr>
            </a:pPr>
            <a:r>
              <a:rPr sz="750" b="1">
                <a:solidFill>
                  <a:srgbClr val="F0FAF8"/>
                </a:solidFill>
              </a:rPr>
              <a:t>LOCAL TRACKS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51540EE-BFCF-4E4E-853C-93909B74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242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9A59F"/>
                </a:solidFill>
              </a:defRPr>
            </a:pPr>
            <a:r>
              <a:rPr sz="600" b="0">
                <a:solidFill>
                  <a:srgbClr val="89A59F"/>
                </a:solidFill>
              </a:rPr>
              <a:t>track ID · trajectory</a:t>
            </a:r>
          </a:p>
          <a:p xmlns:a="http://schemas.openxmlformats.org/drawingml/2006/main">
            <a:pPr algn="l">
              <a:defRPr sz="600" b="0">
                <a:solidFill>
                  <a:srgbClr val="89A59F"/>
                </a:solidFill>
              </a:defRPr>
            </a:pPr>
            <a:r>
              <a:rPr sz="600" b="0">
                <a:solidFill>
                  <a:srgbClr val="89A59F"/>
                </a:solidFill>
              </a:rPr>
              <a:t>appearance gallery</a:t>
            </a:r>
          </a:p>
        </p:txBody>
      </p:sp>
      <p:sp>
        <p:nvSpPr>
          <p:cNvPr id="158" name="IDENTITY EVIDENCE">
            <a:extLst xmlns:a="http://schemas.openxmlformats.org/drawingml/2006/main">
              <a:ext uri="{FF2B5EF4-FFF2-40B4-BE49-F238E27FC236}">
                <a16:creationId xmlns:a16="http://schemas.microsoft.com/office/drawing/2014/main" id="{CA72C115-6BE4-49E4-B6B8-BA58F64D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11430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A211D"/>
          </a:solidFill>
          <a:ln xmlns:a="http://schemas.openxmlformats.org/drawingml/2006/main" w="10478">
            <a:solidFill>
              <a:srgbClr val="24E6BD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0D812FC-7A1F-474C-A56D-2F45DE6B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051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0FAF8"/>
                </a:solidFill>
              </a:defRPr>
            </a:pPr>
            <a:r>
              <a:rPr sz="690" b="1">
                <a:solidFill>
                  <a:srgbClr val="F0FAF8"/>
                </a:solidFill>
              </a:rPr>
              <a:t>IDENTITY EVIDENCE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D1800CF-CB6E-4121-86B1-6AC4C156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242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9A59F"/>
                </a:solidFill>
              </a:defRPr>
            </a:pPr>
            <a:r>
              <a:rPr sz="600" b="0">
                <a:solidFill>
                  <a:srgbClr val="89A59F"/>
                </a:solidFill>
              </a:rPr>
              <a:t>256-D descriptor</a:t>
            </a:r>
          </a:p>
          <a:p xmlns:a="http://schemas.openxmlformats.org/drawingml/2006/main">
            <a:pPr algn="l">
              <a:defRPr sz="600" b="0">
                <a:solidFill>
                  <a:srgbClr val="89A59F"/>
                </a:solidFill>
              </a:defRPr>
            </a:pPr>
            <a:r>
              <a:rPr sz="600" b="0">
                <a:solidFill>
                  <a:srgbClr val="89A59F"/>
                </a:solidFill>
              </a:rPr>
              <a:t>part visibility</a:t>
            </a:r>
          </a:p>
        </p:txBody>
      </p:sp>
      <p:sp>
        <p:nvSpPr>
          <p:cNvPr id="161" name="CANDIDATES">
            <a:extLst xmlns:a="http://schemas.openxmlformats.org/drawingml/2006/main">
              <a:ext uri="{FF2B5EF4-FFF2-40B4-BE49-F238E27FC236}">
                <a16:creationId xmlns:a16="http://schemas.microsoft.com/office/drawing/2014/main" id="{BAB9E08E-E309-400B-8AF6-19D1D7D1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38500"/>
            <a:ext cx="9525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A211D"/>
          </a:solidFill>
          <a:ln xmlns:a="http://schemas.openxmlformats.org/drawingml/2006/main" w="10478">
            <a:solidFill>
              <a:srgbClr val="E8A94D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3760E06-658D-4911-84A6-6ACEE3BF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05175"/>
            <a:ext cx="76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F0FAF8"/>
                </a:solidFill>
              </a:defRPr>
            </a:pPr>
            <a:r>
              <a:rPr sz="690" b="1">
                <a:solidFill>
                  <a:srgbClr val="F0FAF8"/>
                </a:solidFill>
              </a:rPr>
              <a:t>CANDIDATES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948E357-204B-4B34-AA7B-5EF1E0C1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24250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89A59F"/>
                </a:solidFill>
              </a:defRPr>
            </a:pPr>
            <a:r>
              <a:rPr sz="600" b="0">
                <a:solidFill>
                  <a:srgbClr val="89A59F"/>
                </a:solidFill>
              </a:rPr>
              <a:t>rank · similarity</a:t>
            </a:r>
          </a:p>
          <a:p xmlns:a="http://schemas.openxmlformats.org/drawingml/2006/main">
            <a:pPr algn="l">
              <a:defRPr sz="600" b="0">
                <a:solidFill>
                  <a:srgbClr val="89A59F"/>
                </a:solidFill>
              </a:defRPr>
            </a:pPr>
            <a:r>
              <a:rPr sz="600" b="0">
                <a:solidFill>
                  <a:srgbClr val="89A59F"/>
                </a:solidFill>
              </a:rPr>
              <a:t>confidence band</a:t>
            </a:r>
          </a:p>
        </p:txBody>
      </p:sp>
      <p:sp>
        <p:nvSpPr>
          <p:cNvPr id="164" name="ANALYST UI">
            <a:extLst xmlns:a="http://schemas.openxmlformats.org/drawingml/2006/main">
              <a:ext uri="{FF2B5EF4-FFF2-40B4-BE49-F238E27FC236}">
                <a16:creationId xmlns:a16="http://schemas.microsoft.com/office/drawing/2014/main" id="{BB973019-BE9F-44A9-8EBC-953888A4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0"/>
            <a:ext cx="819150" cy="8382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A211D"/>
          </a:solidFill>
          <a:ln xmlns:a="http://schemas.openxmlformats.org/drawingml/2006/main" w="10478">
            <a:solidFill>
              <a:srgbClr val="E8A94D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6CB17B6-F51F-468C-A690-15C09E55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05175"/>
            <a:ext cx="628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F0FAF8"/>
                </a:solidFill>
              </a:defRPr>
            </a:pPr>
            <a:r>
              <a:rPr sz="660" b="1">
                <a:solidFill>
                  <a:srgbClr val="F0FAF8"/>
                </a:solidFill>
              </a:rPr>
              <a:t>ANALYST UI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4AE0218-085A-42ED-AC44-46F820D2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24250"/>
            <a:ext cx="62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63" b="0">
                <a:solidFill>
                  <a:srgbClr val="89A59F"/>
                </a:solidFill>
              </a:defRPr>
            </a:pPr>
            <a:r>
              <a:rPr sz="563" b="0">
                <a:solidFill>
                  <a:srgbClr val="89A59F"/>
                </a:solidFill>
              </a:rPr>
              <a:t>human review</a:t>
            </a:r>
          </a:p>
          <a:p xmlns:a="http://schemas.openxmlformats.org/drawingml/2006/main">
            <a:pPr algn="ctr">
              <a:defRPr sz="563" b="0">
                <a:solidFill>
                  <a:srgbClr val="89A59F"/>
                </a:solidFill>
              </a:defRPr>
            </a:pPr>
            <a:r>
              <a:rPr sz="563" b="0">
                <a:solidFill>
                  <a:srgbClr val="89A59F"/>
                </a:solidFill>
              </a:rPr>
              <a:t>evidence details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FA44AE8-2396-4AF5-939A-1719F384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434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89A59F"/>
                </a:solidFill>
              </a:defRPr>
            </a:pPr>
            <a:r>
              <a:rPr sz="600" b="1">
                <a:solidFill>
                  <a:srgbClr val="89A59F"/>
                </a:solidFill>
              </a:rPr>
              <a:t>TRAINING OBJECTIVE / EDITABLE EQUATIONS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91207C0-FA02-4F2B-B0FE-FD1CCCD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610100"/>
            <a:ext cx="95250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6A76"/>
          </a:solidFill>
          <a:ln xmlns:a="http://schemas.openxmlformats.org/drawingml/2006/main" w="0">
            <a:solidFill>
              <a:srgbClr val="FF6A7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100F"/>
                </a:solidFill>
              </a:defRPr>
            </a:pPr>
            <a:r>
              <a:rPr sz="525" b="1">
                <a:solidFill>
                  <a:srgbClr val="06100F"/>
                </a:solidFill>
              </a:rPr>
              <a:t>DETECTION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EEFDCE7-C779-4BE7-ACAF-7B665043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06680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1A17"/>
          </a:solidFill>
          <a:ln xmlns:a="http://schemas.openxmlformats.org/drawingml/2006/main" w="5715">
            <a:solidFill>
              <a:srgbClr val="25554C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52F9ADA-D297-40B0-9173-3BF3BFBF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57725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808635F-021A-4572-BE80-21B3640F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0FAF8"/>
                </a:solidFill>
              </a:defRPr>
            </a:pPr>
            <a:r>
              <a:rPr sz="765" b="0">
                <a:solidFill>
                  <a:srgbClr val="F0FAF8"/>
                </a:solidFill>
              </a:rPr>
              <a:t>Ldet = Lfocal(Ĉ,C) + λbox L1(b̂,b) + λiou LgIoU(b̂,b)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3F5209B-7649-4F7E-9C16-FA165116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95250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100F"/>
                </a:solidFill>
              </a:defRPr>
            </a:pPr>
            <a:r>
              <a:rPr sz="525" b="1">
                <a:solidFill>
                  <a:srgbClr val="06100F"/>
                </a:solidFill>
              </a:rPr>
              <a:t>ATTENTION FUSION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5A8815F-06B3-466D-8F9C-B967B289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86325"/>
            <a:ext cx="106680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1A17"/>
          </a:solidFill>
          <a:ln xmlns:a="http://schemas.openxmlformats.org/drawingml/2006/main" w="5715">
            <a:solidFill>
              <a:srgbClr val="25554C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363F000-9D3B-4C98-936A-D28CF6F0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5300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E93F3FE-E603-4317-9C7F-B4FC44CA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895850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0FAF8"/>
                </a:solidFill>
              </a:defRPr>
            </a:pPr>
            <a:r>
              <a:rPr sz="765" b="0">
                <a:solidFill>
                  <a:srgbClr val="F0FAF8"/>
                </a:solidFill>
              </a:rPr>
              <a:t>z = normalize( Σk αk · zk ),   α = softmax(g(Froi))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67E9A2B-181A-43E0-9F97-AAD786A3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00650"/>
            <a:ext cx="95250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100F"/>
                </a:solidFill>
              </a:defRPr>
            </a:pPr>
            <a:r>
              <a:rPr sz="525" b="1">
                <a:solidFill>
                  <a:srgbClr val="06100F"/>
                </a:solidFill>
              </a:rPr>
              <a:t>MUTUAL VISIBILITY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7E923C9-95EB-48F2-9203-FE7F4F3B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81600"/>
            <a:ext cx="106680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1A17"/>
          </a:solidFill>
          <a:ln xmlns:a="http://schemas.openxmlformats.org/drawingml/2006/main" w="5715">
            <a:solidFill>
              <a:srgbClr val="25554C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27F6723-65FE-4D78-9429-46B21D74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48275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A11F9F3-1920-4AE2-BEDE-99864CB3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19112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0FAF8"/>
                </a:solidFill>
              </a:defRPr>
            </a:pPr>
            <a:r>
              <a:rPr sz="765" b="0">
                <a:solidFill>
                  <a:srgbClr val="F0FAF8"/>
                </a:solidFill>
              </a:rPr>
              <a:t>s(q,g) = Σk vk(q)vk(g) cos(zq,k,zg,k) / Σk vk(q)vk(g)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8B48E31-3BD5-4F05-85DC-91DA771B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95925"/>
            <a:ext cx="95250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4E6BD"/>
          </a:solidFill>
          <a:ln xmlns:a="http://schemas.openxmlformats.org/drawingml/2006/main" w="0">
            <a:solidFill>
              <a:srgbClr val="24E6B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100F"/>
                </a:solidFill>
              </a:defRPr>
            </a:pPr>
            <a:r>
              <a:rPr sz="525" b="1">
                <a:solidFill>
                  <a:srgbClr val="06100F"/>
                </a:solidFill>
              </a:rPr>
              <a:t>METRIC LEARNING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FAC341E-C5E5-4AEA-944C-8F8C9627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76875"/>
            <a:ext cx="106680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1A17"/>
          </a:solidFill>
          <a:ln xmlns:a="http://schemas.openxmlformats.org/drawingml/2006/main" w="5715">
            <a:solidFill>
              <a:srgbClr val="25554C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7FC9DB1-FFF1-48FA-AF3F-67019F48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435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79BA5E4-16D4-425C-840C-0C8FA593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486400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0FAF8"/>
                </a:solidFill>
              </a:defRPr>
            </a:pPr>
            <a:r>
              <a:rPr sz="765" b="0">
                <a:solidFill>
                  <a:srgbClr val="F0FAF8"/>
                </a:solidFill>
              </a:rPr>
              <a:t>Ltri = [m + d(a,p) − d(a,n)]+ ; XBM expands hard negatives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F4D95C5-19F3-4C08-9C82-BC2D5C08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791200"/>
            <a:ext cx="95250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A94D"/>
          </a:solidFill>
          <a:ln xmlns:a="http://schemas.openxmlformats.org/drawingml/2006/main" w="0">
            <a:solidFill>
              <a:srgbClr val="E8A9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100F"/>
                </a:solidFill>
              </a:defRPr>
            </a:pPr>
            <a:r>
              <a:rPr sz="525" b="1">
                <a:solidFill>
                  <a:srgbClr val="06100F"/>
                </a:solidFill>
              </a:rPr>
              <a:t>ARCFACE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F2C02699-02FC-419A-88C7-275463D4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72150"/>
            <a:ext cx="106680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1A17"/>
          </a:solidFill>
          <a:ln xmlns:a="http://schemas.openxmlformats.org/drawingml/2006/main" w="5715">
            <a:solidFill>
              <a:srgbClr val="25554C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2FC1CBF-B1FE-4767-8E89-EA0E0929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38825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BDE49C5-EE3A-4F55-9DAF-1D212A3E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78167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0FAF8"/>
                </a:solidFill>
              </a:defRPr>
            </a:pPr>
            <a:r>
              <a:rPr sz="765" b="0">
                <a:solidFill>
                  <a:srgbClr val="F0FAF8"/>
                </a:solidFill>
              </a:rPr>
              <a:t>Larc = −log exp(s cos(θy+m)) / Σj exp(s cos θj)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B86F51E-680E-46C8-95C7-30467012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248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8A94D"/>
                </a:solidFill>
              </a:defRPr>
            </a:pPr>
            <a:r>
              <a:rPr sz="675" b="1">
                <a:solidFill>
                  <a:srgbClr val="E8A94D"/>
                </a:solidFill>
              </a:rPr>
              <a:t>DECISION SUPPORT, NOT IDENTITY PROOF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09AC5E9-4AC9-4CEB-A85C-1474F341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248400"/>
            <a:ext cx="600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89A59F"/>
                </a:solidFill>
              </a:defRPr>
            </a:pPr>
            <a:r>
              <a:rPr sz="675" b="0">
                <a:solidFill>
                  <a:srgbClr val="89A59F"/>
                </a:solidFill>
              </a:rPr>
              <a:t>Final record: boxes + local tracks + global candidate identities + evidence-detail view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D0FD79F-8238-4C40-9E9C-8F4A85CD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2484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24E6BD"/>
                </a:solidFill>
              </a:defRPr>
            </a:pPr>
            <a:r>
              <a:rPr sz="600" b="0">
                <a:solidFill>
                  <a:srgbClr val="24E6BD"/>
                </a:solidFill>
              </a:rPr>
              <a:t>Aswanth Raj · EffiPed · 2026</a:t>
            </a:r>
          </a:p>
        </p:txBody>
      </p:sp>
    </p:spTree>
    <p:extLst>
      <p:ext uri="{BB962C8B-B14F-4D97-AF65-F5344CB8AC3E}">
        <p14:creationId xmlns:p14="http://schemas.microsoft.com/office/powerpoint/2010/main" val="2138686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2026-07-30T16:55:03.6010000Z</dcterms:created>
  <dcterms:modified xsi:type="dcterms:W3CDTF">2026-07-30T16:55:03.6010000Z</dcterms:modified>
</coreProperties>
</file>