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5de1b52a6054287" /><Relationship Type="http://schemas.openxmlformats.org/officeDocument/2006/relationships/extended-properties" Target="/docProps/app.xml" Id="Ree85aeda1b7047cf" /><Relationship Type="http://schemas.openxmlformats.org/officeDocument/2006/relationships/officeDocument" Target="/ppt/presentation.xml" Id="R70cd4d27b4c54f0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a70475cc8504178"/>
  </p:sldMasterIdLst>
  <p:notesMasterIdLst>
    <p:notesMasterId xmlns:r="http://schemas.openxmlformats.org/officeDocument/2006/relationships" r:id="R177627860b1042bd"/>
  </p:notesMasterIdLst>
  <p:sldIdLst>
    <p:sldId xmlns:r="http://schemas.openxmlformats.org/officeDocument/2006/relationships" id="256" r:id="Ra46c8a6eb304482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3bf8e9ced974acd" /><Relationship Type="http://schemas.openxmlformats.org/officeDocument/2006/relationships/slideMaster" Target="/ppt/slideMasters/slideMaster1.xml" Id="R7a70475cc8504178" /><Relationship Type="http://schemas.openxmlformats.org/officeDocument/2006/relationships/notesMaster" Target="/ppt/notesMasters/notesMaster1.xml" Id="R177627860b1042bd" /><Relationship Type="http://schemas.openxmlformats.org/officeDocument/2006/relationships/presProps" Target="/ppt/presProps.xml" Id="Rdd2d6393745e455d" /><Relationship Type="http://schemas.openxmlformats.org/officeDocument/2006/relationships/tableStyles" Target="/ppt/tableStyles.xml" Id="R12741e8716064685" /><Relationship Type="http://schemas.openxmlformats.org/officeDocument/2006/relationships/slide" Target="/ppt/slides/slide1.xml" Id="Ra46c8a6eb304482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71bbc18802545f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3761f55800d46b7" /><Relationship Type="http://schemas.openxmlformats.org/officeDocument/2006/relationships/notesMaster" Target="/ppt/notesMasters/notesMaster1.xml" Id="Rea41400f607d44c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Project architecture and model configuration: repository source and configs/system/effiped-tier1.yaml</a:t>
            </a:r>
          </a:p>
          <a:p xmlns:a="http://schemas.openxmlformats.org/drawingml/2006/main">
            <a:r>
              <a:t>- Aggregate evidence: research/results/summary.json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96402a25be84be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2fdf1d9f1a64288" /><Relationship Type="http://schemas.openxmlformats.org/officeDocument/2006/relationships/slideLayout" Target="/ppt/slideLayouts/slideLayout1.xml" Id="R29a3d2c9a4f24a7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9a3d2c9a4f24a7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ed84431ac54add" /><Relationship Type="http://schemas.openxmlformats.org/officeDocument/2006/relationships/notesSlide" Target="/ppt/notesSlides/notesSlide1.xml" Id="R677a6ddb7b4e49a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6100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1" name="">
            <a:extLst xmlns:a="http://schemas.openxmlformats.org/drawingml/2006/main">
              <a:ext uri="{FF2B5EF4-FFF2-40B4-BE49-F238E27FC236}">
                <a16:creationId xmlns:a16="http://schemas.microsoft.com/office/drawing/2014/main" id="{8B4FB52D-4728-4345-A4E1-C396A548B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2257425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E6BD"/>
          </a:solidFill>
          <a:ln xmlns:a="http://schemas.openxmlformats.org/drawingml/2006/main" w="0">
            <a:solidFill>
              <a:srgbClr val="24E6BD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85A62CB-4EB2-4BED-8474-6ACD072E7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219325"/>
            <a:ext cx="95250" cy="9525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24E6BD"/>
          </a:solidFill>
          <a:ln xmlns:a="http://schemas.openxmlformats.org/drawingml/2006/main" w="0">
            <a:solidFill>
              <a:srgbClr val="24E6BD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4707765-1BCF-48B3-AC02-181B06878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257425"/>
            <a:ext cx="2000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E6BD"/>
          </a:solidFill>
          <a:ln xmlns:a="http://schemas.openxmlformats.org/drawingml/2006/main" w="0">
            <a:solidFill>
              <a:srgbClr val="24E6B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5E41C0-2659-4F0C-9580-FC75DBD89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219325"/>
            <a:ext cx="95250" cy="9525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24E6BD"/>
          </a:solidFill>
          <a:ln xmlns:a="http://schemas.openxmlformats.org/drawingml/2006/main" w="0">
            <a:solidFill>
              <a:srgbClr val="24E6B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7E63F1-557D-433B-B721-A43A0B05C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2257425"/>
            <a:ext cx="2000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E6BD"/>
          </a:solidFill>
          <a:ln xmlns:a="http://schemas.openxmlformats.org/drawingml/2006/main" w="0">
            <a:solidFill>
              <a:srgbClr val="24E6B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AB36144-0EF2-44ED-BA03-11CD24812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2219325"/>
            <a:ext cx="95250" cy="9525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24E6BD"/>
          </a:solidFill>
          <a:ln xmlns:a="http://schemas.openxmlformats.org/drawingml/2006/main" w="0">
            <a:solidFill>
              <a:srgbClr val="24E6BD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1B3797-E7A6-4DC4-8EE4-55950FF28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2257425"/>
            <a:ext cx="2190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E6BD"/>
          </a:solidFill>
          <a:ln xmlns:a="http://schemas.openxmlformats.org/drawingml/2006/main" w="0">
            <a:solidFill>
              <a:srgbClr val="24E6B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321741-6BF0-4271-8C92-376EE6F9B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2219325"/>
            <a:ext cx="95250" cy="9525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24E6BD"/>
          </a:solidFill>
          <a:ln xmlns:a="http://schemas.openxmlformats.org/drawingml/2006/main" w="0">
            <a:solidFill>
              <a:srgbClr val="24E6B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D5CCF4A-98E6-4C51-A2A4-5A432C45B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2257425"/>
            <a:ext cx="2000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E6BD"/>
          </a:solidFill>
          <a:ln xmlns:a="http://schemas.openxmlformats.org/drawingml/2006/main" w="0">
            <a:solidFill>
              <a:srgbClr val="24E6BD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71378F5-2BD9-4DA0-82A2-1CBB9F131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219325"/>
            <a:ext cx="95250" cy="9525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24E6BD"/>
          </a:solidFill>
          <a:ln xmlns:a="http://schemas.openxmlformats.org/drawingml/2006/main" w="0">
            <a:solidFill>
              <a:srgbClr val="24E6B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6E64BC3-CC29-47E3-8F2E-D01CEC78C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257425"/>
            <a:ext cx="2571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E6BD"/>
          </a:solidFill>
          <a:ln xmlns:a="http://schemas.openxmlformats.org/drawingml/2006/main" w="0">
            <a:solidFill>
              <a:srgbClr val="24E6BD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41C891B-A5CF-4899-9AF9-E36B2A843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219325"/>
            <a:ext cx="95250" cy="9525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24E6BD"/>
          </a:solidFill>
          <a:ln xmlns:a="http://schemas.openxmlformats.org/drawingml/2006/main" w="0">
            <a:solidFill>
              <a:srgbClr val="24E6B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1C803A3-3F0B-43F4-84AB-40EE865C8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2257425"/>
            <a:ext cx="666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E6BD"/>
          </a:solidFill>
          <a:ln xmlns:a="http://schemas.openxmlformats.org/drawingml/2006/main" w="0">
            <a:solidFill>
              <a:srgbClr val="24E6B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96C0D25-AEB1-4107-9236-201413CD5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219325"/>
            <a:ext cx="95250" cy="9525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24E6BD"/>
          </a:solidFill>
          <a:ln xmlns:a="http://schemas.openxmlformats.org/drawingml/2006/main" w="0">
            <a:solidFill>
              <a:srgbClr val="24E6BD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C8B75E8-7551-460F-888B-E9A7A560E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257425"/>
            <a:ext cx="1047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94D"/>
          </a:solidFill>
          <a:ln xmlns:a="http://schemas.openxmlformats.org/drawingml/2006/main" w="0">
            <a:solidFill>
              <a:srgbClr val="E8A94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30E7606-EC8A-45C6-91CA-E33AC6095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2219325"/>
            <a:ext cx="95250" cy="9525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E8A94D"/>
          </a:solidFill>
          <a:ln xmlns:a="http://schemas.openxmlformats.org/drawingml/2006/main" w="0">
            <a:solidFill>
              <a:srgbClr val="E8A94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5CD525F-25C2-4BFA-992D-83D0B4A65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724150"/>
            <a:ext cx="190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E6BD"/>
          </a:solidFill>
          <a:ln xmlns:a="http://schemas.openxmlformats.org/drawingml/2006/main" w="0">
            <a:solidFill>
              <a:srgbClr val="24E6BD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FD0A1D7-DB01-4C80-A386-9137C7EFF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162300"/>
            <a:ext cx="95250" cy="9525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24E6BD"/>
          </a:solidFill>
          <a:ln xmlns:a="http://schemas.openxmlformats.org/drawingml/2006/main" w="0">
            <a:solidFill>
              <a:srgbClr val="24E6BD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1A93EB0-4EE0-4436-8259-FF25689FE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8575" y="2724150"/>
            <a:ext cx="190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E6BD"/>
          </a:solidFill>
          <a:ln xmlns:a="http://schemas.openxmlformats.org/drawingml/2006/main" w="0">
            <a:solidFill>
              <a:srgbClr val="24E6B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B785E73-A901-4E43-B0C3-E1731F19C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3162300"/>
            <a:ext cx="95250" cy="9525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24E6BD"/>
          </a:solidFill>
          <a:ln xmlns:a="http://schemas.openxmlformats.org/drawingml/2006/main" w="0">
            <a:solidFill>
              <a:srgbClr val="24E6BD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642518A-6103-46D1-B774-A91C17335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3525" y="2724150"/>
            <a:ext cx="190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E6BD"/>
          </a:solidFill>
          <a:ln xmlns:a="http://schemas.openxmlformats.org/drawingml/2006/main" w="0">
            <a:solidFill>
              <a:srgbClr val="24E6BD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B5650FC-E995-45DA-84AD-6D1A96CF8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5425" y="3162300"/>
            <a:ext cx="95250" cy="9525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24E6BD"/>
          </a:solidFill>
          <a:ln xmlns:a="http://schemas.openxmlformats.org/drawingml/2006/main" w="0">
            <a:solidFill>
              <a:srgbClr val="24E6BD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A07E748-2384-479A-8139-5C610A46F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87025" y="2724150"/>
            <a:ext cx="190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94D"/>
          </a:solidFill>
          <a:ln xmlns:a="http://schemas.openxmlformats.org/drawingml/2006/main" w="0">
            <a:solidFill>
              <a:srgbClr val="E8A94D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19DF120-49D6-4178-A809-D7892974F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48925" y="3162300"/>
            <a:ext cx="95250" cy="9525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E8A94D"/>
          </a:solidFill>
          <a:ln xmlns:a="http://schemas.openxmlformats.org/drawingml/2006/main" w="0">
            <a:solidFill>
              <a:srgbClr val="E8A94D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7006DDF-92C7-4AF0-A782-88CF58279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638175"/>
            <a:ext cx="9525" cy="548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4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0AA3152-9D51-42DD-93D5-43ABD19DC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8175"/>
            <a:ext cx="9525" cy="548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4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5AE7144-2BAB-4BB2-AFBB-987E0F996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38175"/>
            <a:ext cx="9525" cy="548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4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547C173-7514-4269-A019-B62478437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38175"/>
            <a:ext cx="9525" cy="548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4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40DF5AD-A0AE-44AB-98FA-FBE231E0A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638175"/>
            <a:ext cx="9525" cy="548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4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5E07ADD-7D59-4427-80A0-E5EC1DB92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638175"/>
            <a:ext cx="9525" cy="548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4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D1E494F-DC6F-4A4E-B9C9-FEC0E6970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638175"/>
            <a:ext cx="9525" cy="548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4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03FCDAD-6BCC-46F1-A3FC-D324576F3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638175"/>
            <a:ext cx="9525" cy="548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4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9E87570-E48A-4925-9C7A-28F406026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638175"/>
            <a:ext cx="9525" cy="548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4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1DA2298-77C2-46B2-925D-0B46AEAD1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638175"/>
            <a:ext cx="9525" cy="548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4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CBEB98F-911F-411C-92AA-E96E6C692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638175"/>
            <a:ext cx="9525" cy="548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4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DEE1B56-2252-40EE-A380-81F39EE93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638175"/>
            <a:ext cx="9525" cy="548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4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CD3062E-D749-4244-BCCC-9D44A112F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638175"/>
            <a:ext cx="9525" cy="548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4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0FCB8D1-0CA8-4FDC-AE33-971510226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638175"/>
            <a:ext cx="9525" cy="548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4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B49036A-AF22-4F4F-BD59-7AE29F9E4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638175"/>
            <a:ext cx="9525" cy="548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4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76626FD-C18D-43D0-BBEC-0481A00E3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638175"/>
            <a:ext cx="9525" cy="548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4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20D146D-C089-4A46-948F-20ABC9C0B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638175"/>
            <a:ext cx="9525" cy="548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4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9D9262B-2ACF-4F38-A88B-2A0093E43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638175"/>
            <a:ext cx="9525" cy="548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4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6906124-1730-49A3-AB72-8EAF64680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638175"/>
            <a:ext cx="9525" cy="548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4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3C42A14-0F81-4B3B-87B5-DCE1A2E4E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638175"/>
            <a:ext cx="9525" cy="548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4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42388EF-1689-4934-BA63-35F10BA03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638175"/>
            <a:ext cx="9525" cy="548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4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875E17C-7F4B-41CD-8392-61E309497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638175"/>
            <a:ext cx="9525" cy="548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4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5B7A2A3-94EF-49BF-B55D-A4E763D15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638175"/>
            <a:ext cx="9525" cy="548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4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F045AD09-1AFB-4BF7-92F3-1D57F948C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638175"/>
            <a:ext cx="9525" cy="548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4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AF6A27E5-CC14-4528-82A4-131E617EC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638175"/>
            <a:ext cx="9525" cy="548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4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FD26E43-750A-4A5C-8FFF-39380CF38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638175"/>
            <a:ext cx="9525" cy="548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4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C029A2A5-DC3A-4D7A-9267-B075B3C8D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638175"/>
            <a:ext cx="9525" cy="548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4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42FFED96-37F5-4AA9-AFEE-2FD6F5DFC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638175"/>
            <a:ext cx="9525" cy="548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4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2ABD40AF-401A-466A-A27B-44C94B51A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638175"/>
            <a:ext cx="9525" cy="548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4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DB110CB6-5A9D-4BE4-87D6-E139D9601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638175"/>
            <a:ext cx="9525" cy="548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4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B4CD9613-CB2E-40D2-B54F-F1FA7C7E4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638175"/>
            <a:ext cx="9525" cy="548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4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01EA547B-196D-4B74-BC09-35070C5D7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638175"/>
            <a:ext cx="9525" cy="548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4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458248A3-92B5-410C-BF48-A3DB813B4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638175"/>
            <a:ext cx="9525" cy="548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4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1C4DA09A-6134-4A5D-91A3-3A9A371B4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38175"/>
            <a:ext cx="9525" cy="548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4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8B6E45F1-C0A3-4F9D-A24E-33AC8B2B6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1800" y="638175"/>
            <a:ext cx="9525" cy="548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4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B0C6F137-3E40-4422-8594-EEB62DF91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6600" y="638175"/>
            <a:ext cx="9525" cy="548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4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5B523967-446D-4BD4-B895-96C0ED886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38175"/>
            <a:ext cx="9525" cy="548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4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770F244E-43DA-4D8E-98C6-BF35827EC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06200" y="638175"/>
            <a:ext cx="9525" cy="548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4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7E8DE286-80E1-4870-84B3-DD5CD95FF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0" y="638175"/>
            <a:ext cx="9525" cy="548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4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E0645CC5-F345-424D-8EA2-A0F72B706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638175"/>
            <a:ext cx="11734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4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972FB67E-88C1-4668-9E53-C20EA121D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942975"/>
            <a:ext cx="11734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4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00490E08-49D9-4F2A-92B0-1B02A6A98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247775"/>
            <a:ext cx="11734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4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C1AF59C8-2DD7-45B7-BC6A-AA9C6395D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552575"/>
            <a:ext cx="11734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4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1A2D10AF-23F9-4AB1-90B8-4E97071CA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857375"/>
            <a:ext cx="11734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4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86D88723-BE74-4DA1-AC64-DA367182C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2162175"/>
            <a:ext cx="11734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4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091F335F-4D5C-4488-AFAB-670868D46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2466975"/>
            <a:ext cx="11734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4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038D4041-015F-49D8-99F7-D92F5B6B2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2771775"/>
            <a:ext cx="11734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4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F05672BA-3582-4747-A0E5-953C5226A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3076575"/>
            <a:ext cx="11734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4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12B74E59-7046-4BB0-B9BD-0A3533C7E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3381375"/>
            <a:ext cx="11734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4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71F621DE-50D7-4645-A3EA-3FC69E3FB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3686175"/>
            <a:ext cx="11734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4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AF919612-BAD0-421E-A3D9-04B7DD5C3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3990975"/>
            <a:ext cx="11734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4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3F104D40-A1E1-4B59-9560-24B368FBB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4295775"/>
            <a:ext cx="11734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4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31DD5514-1FE6-495F-82EE-FE5A003E4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4600575"/>
            <a:ext cx="11734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4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60F65082-9CFC-4379-A268-E97920396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4905375"/>
            <a:ext cx="11734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4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EC9C1A3B-1A53-4231-B8B0-FF5B3EBB7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5210175"/>
            <a:ext cx="11734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4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20587C91-215A-4FC5-8410-E2A4983E6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5514975"/>
            <a:ext cx="11734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4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0FA83E43-6658-4196-9366-06D38ACDA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5819775"/>
            <a:ext cx="11734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4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5771E8A5-E40A-4142-B192-50FB0A423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6124575"/>
            <a:ext cx="11734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4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F75D2178-47F1-4DC4-B920-521A0B8CD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11430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24E6BD"/>
                </a:solidFill>
              </a:defRPr>
            </a:pPr>
            <a:r>
              <a:rPr sz="750" b="1">
                <a:solidFill>
                  <a:srgbClr val="24E6BD"/>
                </a:solidFill>
              </a:rPr>
              <a:t>EffiPed / SYSTEM ARCHITECTURE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0BA29D9E-F7C3-4D6C-ABD1-8EB20D501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304800"/>
            <a:ext cx="866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F0FAF8"/>
                </a:solidFill>
              </a:defRPr>
            </a:pPr>
            <a:r>
              <a:rPr sz="1650" b="1">
                <a:solidFill>
                  <a:srgbClr val="F0FAF8"/>
                </a:solidFill>
              </a:rPr>
              <a:t>One shared visual backbone carries a person from pixels to reviewable cross-camera evidence.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9656DB1F-3B5D-4AD2-A294-2966420C7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3175" y="190500"/>
            <a:ext cx="1771650" cy="1714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8A94D"/>
          </a:solidFill>
          <a:ln xmlns:a="http://schemas.openxmlformats.org/drawingml/2006/main" w="0">
            <a:solidFill>
              <a:srgbClr val="E8A94D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525" b="1">
                <a:solidFill>
                  <a:srgbClr val="06100F"/>
                </a:solidFill>
              </a:defRPr>
            </a:pPr>
            <a:r>
              <a:rPr sz="525" b="1">
                <a:solidFill>
                  <a:srgbClr val="06100F"/>
                </a:solidFill>
              </a:rPr>
              <a:t>DETECTION · TRACKING · RETRIEVAL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CA4E877C-2FFF-43C5-97D2-8E1B43DA3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72390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600" b="1">
                <a:solidFill>
                  <a:srgbClr val="89A59F"/>
                </a:solidFill>
              </a:defRPr>
            </a:pPr>
            <a:r>
              <a:rPr sz="600" b="1">
                <a:solidFill>
                  <a:srgbClr val="89A59F"/>
                </a:solidFill>
              </a:rPr>
              <a:t>01 · MULTI-CAMERA INPUT</a:t>
            </a:r>
          </a:p>
        </p:txBody>
      </p:sp>
      <p:sp>
        <p:nvSpPr>
          <p:cNvPr id="87" name="C1">
            <a:extLst xmlns:a="http://schemas.openxmlformats.org/drawingml/2006/main">
              <a:ext uri="{FF2B5EF4-FFF2-40B4-BE49-F238E27FC236}">
                <a16:creationId xmlns:a16="http://schemas.microsoft.com/office/drawing/2014/main" id="{D430B99D-FD77-4B8A-9BCE-5D76BEE26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990600"/>
            <a:ext cx="495300" cy="4572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0A1C19"/>
          </a:solidFill>
          <a:ln xmlns:a="http://schemas.openxmlformats.org/drawingml/2006/main" w="10478">
            <a:solidFill>
              <a:srgbClr val="25554C"/>
            </a:solidFill>
            <a:prstDash val="solid"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7ED6733F-BAF0-4A5C-B132-6FFB8F02F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1057275"/>
            <a:ext cx="3048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F0FAF8"/>
                </a:solidFill>
              </a:defRPr>
            </a:pPr>
            <a:r>
              <a:rPr sz="900" b="1">
                <a:solidFill>
                  <a:srgbClr val="F0FAF8"/>
                </a:solidFill>
              </a:rPr>
              <a:t>C1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DB644038-DB16-498F-A83F-96CA64577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1276350"/>
            <a:ext cx="3048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525" b="0">
                <a:solidFill>
                  <a:srgbClr val="89A59F"/>
                </a:solidFill>
              </a:defRPr>
            </a:pPr>
            <a:r>
              <a:rPr sz="525" b="0">
                <a:solidFill>
                  <a:srgbClr val="89A59F"/>
                </a:solidFill>
              </a:rPr>
              <a:t>t1 · RGB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6F69751E-F0BE-4AE5-99DE-19CA1D354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" y="1219200"/>
            <a:ext cx="3619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5047"/>
          </a:solidFill>
          <a:ln xmlns:a="http://schemas.openxmlformats.org/drawingml/2006/main" w="4763">
            <a:solidFill>
              <a:srgbClr val="25554C"/>
            </a:solidFill>
            <a:prstDash val="solid"/>
          </a:ln>
        </p:spPr>
      </p:sp>
      <p:sp>
        <p:nvSpPr>
          <p:cNvPr id="91" name="C2">
            <a:extLst xmlns:a="http://schemas.openxmlformats.org/drawingml/2006/main">
              <a:ext uri="{FF2B5EF4-FFF2-40B4-BE49-F238E27FC236}">
                <a16:creationId xmlns:a16="http://schemas.microsoft.com/office/drawing/2014/main" id="{FCEC15CC-06F9-4865-9C49-053C78416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990600"/>
            <a:ext cx="495300" cy="4572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0A1C19"/>
          </a:solidFill>
          <a:ln xmlns:a="http://schemas.openxmlformats.org/drawingml/2006/main" w="10478">
            <a:solidFill>
              <a:srgbClr val="25554C"/>
            </a:solidFill>
            <a:prstDash val="solid"/>
          </a:ln>
        </p:spPr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86FBF499-FEEA-48E5-9CF7-583973742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057275"/>
            <a:ext cx="3048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F0FAF8"/>
                </a:solidFill>
              </a:defRPr>
            </a:pPr>
            <a:r>
              <a:rPr sz="900" b="1">
                <a:solidFill>
                  <a:srgbClr val="F0FAF8"/>
                </a:solidFill>
              </a:rPr>
              <a:t>C2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EBCDDDC2-B3F3-4DB3-9657-85169BE21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276350"/>
            <a:ext cx="3048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525" b="0">
                <a:solidFill>
                  <a:srgbClr val="89A59F"/>
                </a:solidFill>
              </a:defRPr>
            </a:pPr>
            <a:r>
              <a:rPr sz="525" b="0">
                <a:solidFill>
                  <a:srgbClr val="89A59F"/>
                </a:solidFill>
              </a:rPr>
              <a:t>t2 · RGB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BA6A574B-8663-43A0-878C-90260D189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219200"/>
            <a:ext cx="3619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C34"/>
          </a:solidFill>
          <a:ln xmlns:a="http://schemas.openxmlformats.org/drawingml/2006/main" w="4763">
            <a:solidFill>
              <a:srgbClr val="25554C"/>
            </a:solidFill>
            <a:prstDash val="solid"/>
          </a:ln>
        </p:spPr>
      </p:sp>
      <p:sp>
        <p:nvSpPr>
          <p:cNvPr id="95" name="C3">
            <a:extLst xmlns:a="http://schemas.openxmlformats.org/drawingml/2006/main">
              <a:ext uri="{FF2B5EF4-FFF2-40B4-BE49-F238E27FC236}">
                <a16:creationId xmlns:a16="http://schemas.microsoft.com/office/drawing/2014/main" id="{A3B389D6-8C29-4641-86D6-A96CBF862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1562100"/>
            <a:ext cx="495300" cy="4572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0A1C19"/>
          </a:solidFill>
          <a:ln xmlns:a="http://schemas.openxmlformats.org/drawingml/2006/main" w="10478">
            <a:solidFill>
              <a:srgbClr val="25554C"/>
            </a:solidFill>
            <a:prstDash val="solid"/>
          </a:ln>
        </p:spPr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40ED2EBA-7882-45EC-B53A-8099AB253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1628775"/>
            <a:ext cx="3048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F0FAF8"/>
                </a:solidFill>
              </a:defRPr>
            </a:pPr>
            <a:r>
              <a:rPr sz="900" b="1">
                <a:solidFill>
                  <a:srgbClr val="F0FAF8"/>
                </a:solidFill>
              </a:rPr>
              <a:t>C3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741BE75D-E46C-419A-8800-431D1E743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1847850"/>
            <a:ext cx="3048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525" b="0">
                <a:solidFill>
                  <a:srgbClr val="89A59F"/>
                </a:solidFill>
              </a:defRPr>
            </a:pPr>
            <a:r>
              <a:rPr sz="525" b="0">
                <a:solidFill>
                  <a:srgbClr val="89A59F"/>
                </a:solidFill>
              </a:rPr>
              <a:t>t3 · RGB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5E926955-840A-4AB2-82C8-1446624B0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" y="1790700"/>
            <a:ext cx="3619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5047"/>
          </a:solidFill>
          <a:ln xmlns:a="http://schemas.openxmlformats.org/drawingml/2006/main" w="4763">
            <a:solidFill>
              <a:srgbClr val="25554C"/>
            </a:solidFill>
            <a:prstDash val="solid"/>
          </a:ln>
        </p:spPr>
      </p:sp>
      <p:sp>
        <p:nvSpPr>
          <p:cNvPr id="99" name="C4">
            <a:extLst xmlns:a="http://schemas.openxmlformats.org/drawingml/2006/main">
              <a:ext uri="{FF2B5EF4-FFF2-40B4-BE49-F238E27FC236}">
                <a16:creationId xmlns:a16="http://schemas.microsoft.com/office/drawing/2014/main" id="{3216A280-5F8C-4125-A744-E428820D4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562100"/>
            <a:ext cx="495300" cy="4572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0A1C19"/>
          </a:solidFill>
          <a:ln xmlns:a="http://schemas.openxmlformats.org/drawingml/2006/main" w="10478">
            <a:solidFill>
              <a:srgbClr val="25554C"/>
            </a:solidFill>
            <a:prstDash val="solid"/>
          </a:ln>
        </p:spPr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B2520F37-E445-49D8-A26B-0C0D0A05D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628775"/>
            <a:ext cx="3048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F0FAF8"/>
                </a:solidFill>
              </a:defRPr>
            </a:pPr>
            <a:r>
              <a:rPr sz="900" b="1">
                <a:solidFill>
                  <a:srgbClr val="F0FAF8"/>
                </a:solidFill>
              </a:rPr>
              <a:t>C4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05D20003-F791-4A49-BC02-7DBEF6AF1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847850"/>
            <a:ext cx="3048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525" b="0">
                <a:solidFill>
                  <a:srgbClr val="89A59F"/>
                </a:solidFill>
              </a:defRPr>
            </a:pPr>
            <a:r>
              <a:rPr sz="525" b="0">
                <a:solidFill>
                  <a:srgbClr val="89A59F"/>
                </a:solidFill>
              </a:rPr>
              <a:t>t4 · RGB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19E866BB-ABB2-4807-ACD1-4C93A7B33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790700"/>
            <a:ext cx="3619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C34"/>
          </a:solidFill>
          <a:ln xmlns:a="http://schemas.openxmlformats.org/drawingml/2006/main" w="4763">
            <a:solidFill>
              <a:srgbClr val="25554C"/>
            </a:solidFill>
            <a:prstDash val="solid"/>
          </a:ln>
        </p:spPr>
      </p:sp>
      <p:sp>
        <p:nvSpPr>
          <p:cNvPr id="103" name="SYNC + LETTERBOX">
            <a:extLst xmlns:a="http://schemas.openxmlformats.org/drawingml/2006/main">
              <a:ext uri="{FF2B5EF4-FFF2-40B4-BE49-F238E27FC236}">
                <a16:creationId xmlns:a16="http://schemas.microsoft.com/office/drawing/2014/main" id="{955EBA7F-62F6-45F7-9365-FE43B3C82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2133600"/>
            <a:ext cx="1095375" cy="5905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0D2B26"/>
          </a:solidFill>
          <a:ln xmlns:a="http://schemas.openxmlformats.org/drawingml/2006/main" w="10478">
            <a:solidFill>
              <a:srgbClr val="24E6BD"/>
            </a:solidFill>
            <a:prstDash val="solid"/>
          </a:ln>
        </p:spPr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39C2D4EE-24D7-4177-98C0-30AA21EA1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200275"/>
            <a:ext cx="9048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F0FAF8"/>
                </a:solidFill>
              </a:defRPr>
            </a:pPr>
            <a:r>
              <a:rPr sz="750" b="1">
                <a:solidFill>
                  <a:srgbClr val="F0FAF8"/>
                </a:solidFill>
              </a:rPr>
              <a:t>SYNC + LETTERBOX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BA144DED-D6D7-4E8D-B3EC-9F8C2B384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419350"/>
            <a:ext cx="9048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563" b="0">
                <a:solidFill>
                  <a:srgbClr val="89A59F"/>
                </a:solidFill>
              </a:defRPr>
            </a:pPr>
            <a:r>
              <a:rPr sz="563" b="0">
                <a:solidFill>
                  <a:srgbClr val="89A59F"/>
                </a:solidFill>
              </a:rPr>
              <a:t>1088×608 · normalize</a:t>
            </a:r>
          </a:p>
          <a:p xmlns:a="http://schemas.openxmlformats.org/drawingml/2006/main">
            <a:pPr algn="l">
              <a:buNone/>
              <a:defRPr sz="563" b="0">
                <a:solidFill>
                  <a:srgbClr val="89A59F"/>
                </a:solidFill>
              </a:defRPr>
            </a:pPr>
            <a:r>
              <a:rPr sz="563" b="0">
                <a:solidFill>
                  <a:srgbClr val="89A59F"/>
                </a:solidFill>
              </a:rPr>
              <a:t>camera/time metadata</a:t>
            </a: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CF4C23FB-0822-4866-977A-67D2996D2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723900"/>
            <a:ext cx="2476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600" b="1">
                <a:solidFill>
                  <a:srgbClr val="89A59F"/>
                </a:solidFill>
              </a:defRPr>
            </a:pPr>
            <a:r>
              <a:rPr sz="600" b="1">
                <a:solidFill>
                  <a:srgbClr val="89A59F"/>
                </a:solidFill>
              </a:rPr>
              <a:t>02 · SHARED CONVNEXT V2 FEATURES</a:t>
            </a:r>
          </a:p>
        </p:txBody>
      </p:sp>
      <p:sp>
        <p:nvSpPr>
          <p:cNvPr id="107" name="STEM + STAGES">
            <a:extLst xmlns:a="http://schemas.openxmlformats.org/drawingml/2006/main">
              <a:ext uri="{FF2B5EF4-FFF2-40B4-BE49-F238E27FC236}">
                <a16:creationId xmlns:a16="http://schemas.microsoft.com/office/drawing/2014/main" id="{7E7C77BE-D366-4846-9880-96369B34B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990600"/>
            <a:ext cx="1047750" cy="17335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0A1B26"/>
          </a:solidFill>
          <a:ln xmlns:a="http://schemas.openxmlformats.org/drawingml/2006/main" w="10478">
            <a:solidFill>
              <a:srgbClr val="55AFFF"/>
            </a:solidFill>
            <a:prstDash val="solid"/>
          </a:ln>
        </p:spPr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9F5BD776-BC71-4CB9-88C3-426C928C2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1057275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F0FAF8"/>
                </a:solidFill>
              </a:defRPr>
            </a:pPr>
            <a:r>
              <a:rPr sz="825" b="1">
                <a:solidFill>
                  <a:srgbClr val="F0FAF8"/>
                </a:solidFill>
              </a:rPr>
              <a:t>STEM + STAGES</a:t>
            </a:r>
          </a:p>
        </p:txBody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E273942E-7754-4CCD-9CDA-860E26348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1343025"/>
            <a:ext cx="723900" cy="1714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164463"/>
          </a:solidFill>
          <a:ln xmlns:a="http://schemas.openxmlformats.org/drawingml/2006/main" w="5715">
            <a:solidFill>
              <a:srgbClr val="55AFFF"/>
            </a:solidFill>
            <a:prstDash val="solid"/>
          </a:ln>
        </p:spPr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D1C3280D-87AB-4A5A-B7A3-5D5782A4F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1343025"/>
            <a:ext cx="704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503" b="0">
                <a:solidFill>
                  <a:srgbClr val="F0FAF8"/>
                </a:solidFill>
              </a:defRPr>
            </a:pPr>
            <a:r>
              <a:rPr sz="503" b="0">
                <a:solidFill>
                  <a:srgbClr val="F0FAF8"/>
                </a:solidFill>
              </a:rPr>
              <a:t>C1 /4 · edges</a:t>
            </a:r>
          </a:p>
        </p:txBody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0C142A2A-66F4-4CFB-B6FE-9BFF26EFE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1619250"/>
            <a:ext cx="723900" cy="1714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18566B"/>
          </a:solidFill>
          <a:ln xmlns:a="http://schemas.openxmlformats.org/drawingml/2006/main" w="5715">
            <a:solidFill>
              <a:srgbClr val="55AFFF"/>
            </a:solidFill>
            <a:prstDash val="solid"/>
          </a:ln>
        </p:spPr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0BA0CC47-EEF9-41A1-A084-EF568A683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1619250"/>
            <a:ext cx="704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503" b="0">
                <a:solidFill>
                  <a:srgbClr val="F0FAF8"/>
                </a:solidFill>
              </a:defRPr>
            </a:pPr>
            <a:r>
              <a:rPr sz="503" b="0">
                <a:solidFill>
                  <a:srgbClr val="F0FAF8"/>
                </a:solidFill>
              </a:rPr>
              <a:t>C2 /8 · texture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106ABE7D-0F5E-48F1-A634-2CA98CB62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1895475"/>
            <a:ext cx="723900" cy="1714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197165"/>
          </a:solidFill>
          <a:ln xmlns:a="http://schemas.openxmlformats.org/drawingml/2006/main" w="5715">
            <a:solidFill>
              <a:srgbClr val="55AFFF"/>
            </a:solidFill>
            <a:prstDash val="solid"/>
          </a:ln>
        </p:spPr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0DA9B52E-C781-441C-9614-7449B6356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1895475"/>
            <a:ext cx="704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503" b="0">
                <a:solidFill>
                  <a:srgbClr val="F0FAF8"/>
                </a:solidFill>
              </a:defRPr>
            </a:pPr>
            <a:r>
              <a:rPr sz="503" b="0">
                <a:solidFill>
                  <a:srgbClr val="F0FAF8"/>
                </a:solidFill>
              </a:rPr>
              <a:t>C3 /16 · semantics</a:t>
            </a:r>
          </a:p>
        </p:txBody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99972C34-9571-4D39-82A7-4C9D71036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2171700"/>
            <a:ext cx="723900" cy="1714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218A71"/>
          </a:solidFill>
          <a:ln xmlns:a="http://schemas.openxmlformats.org/drawingml/2006/main" w="5715">
            <a:solidFill>
              <a:srgbClr val="55AFFF"/>
            </a:solidFill>
            <a:prstDash val="solid"/>
          </a:ln>
        </p:spPr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20072F3E-BC1C-4BD8-AE00-9D24E928C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2171700"/>
            <a:ext cx="704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503" b="0">
                <a:solidFill>
                  <a:srgbClr val="F0FAF8"/>
                </a:solidFill>
              </a:defRPr>
            </a:pPr>
            <a:r>
              <a:rPr sz="503" b="0">
                <a:solidFill>
                  <a:srgbClr val="F0FAF8"/>
                </a:solidFill>
              </a:rPr>
              <a:t>C4 /32 · context</a:t>
            </a:r>
          </a:p>
        </p:txBody>
      </p:sp>
      <p:sp>
        <p:nvSpPr>
          <p:cNvPr id="117" name="P2 / P3 TAP">
            <a:extLst xmlns:a="http://schemas.openxmlformats.org/drawingml/2006/main">
              <a:ext uri="{FF2B5EF4-FFF2-40B4-BE49-F238E27FC236}">
                <a16:creationId xmlns:a16="http://schemas.microsoft.com/office/drawing/2014/main" id="{A701A00E-3596-4B25-82FB-418EA28B5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1428750"/>
            <a:ext cx="1028700" cy="1295400"/>
          </a:xfrm>
          <a:prstGeom xmlns:a="http://schemas.openxmlformats.org/drawingml/2006/main" prst="roundRect">
            <a:avLst>
              <a:gd name="adj" fmla="val 3704"/>
            </a:avLst>
          </a:prstGeom>
          <a:solidFill xmlns:a="http://schemas.openxmlformats.org/drawingml/2006/main">
            <a:srgbClr val="0A211D"/>
          </a:solidFill>
          <a:ln xmlns:a="http://schemas.openxmlformats.org/drawingml/2006/main" w="10478">
            <a:solidFill>
              <a:srgbClr val="24E6BD"/>
            </a:solidFill>
            <a:prstDash val="solid"/>
          </a:ln>
        </p:spPr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6DAE8BFF-93AF-4D48-B34B-5E00D9A99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1495425"/>
            <a:ext cx="8382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F0FAF8"/>
                </a:solidFill>
              </a:defRPr>
            </a:pPr>
            <a:r>
              <a:rPr sz="825" b="1">
                <a:solidFill>
                  <a:srgbClr val="F0FAF8"/>
                </a:solidFill>
              </a:rPr>
              <a:t>P2 / P3 TAP</a:t>
            </a:r>
          </a:p>
        </p:txBody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CE10D56A-BB3E-43B8-836E-83CBD344C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1714500"/>
            <a:ext cx="8382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615" b="0">
                <a:solidFill>
                  <a:srgbClr val="89A59F"/>
                </a:solidFill>
              </a:defRPr>
            </a:pPr>
            <a:r>
              <a:rPr sz="615" b="0">
                <a:solidFill>
                  <a:srgbClr val="89A59F"/>
                </a:solidFill>
              </a:rPr>
              <a:t>stride-4 detail</a:t>
            </a:r>
          </a:p>
          <a:p xmlns:a="http://schemas.openxmlformats.org/drawingml/2006/main">
            <a:pPr algn="l">
              <a:buNone/>
              <a:defRPr sz="615" b="0">
                <a:solidFill>
                  <a:srgbClr val="89A59F"/>
                </a:solidFill>
              </a:defRPr>
            </a:pPr>
            <a:r>
              <a:rPr sz="615" b="0">
                <a:solidFill>
                  <a:srgbClr val="89A59F"/>
                </a:solidFill>
              </a:rPr>
              <a:t>stride-8 context</a:t>
            </a:r>
          </a:p>
          <a:p xmlns:a="http://schemas.openxmlformats.org/drawingml/2006/main">
            <a:pPr algn="l">
              <a:buNone/>
              <a:defRPr sz="615" b="0">
                <a:solidFill>
                  <a:srgbClr val="89A59F"/>
                </a:solidFill>
              </a:defRPr>
            </a:pPr>
            <a:r>
              <a:rPr sz="615" b="0">
                <a:solidFill>
                  <a:srgbClr val="89A59F"/>
                </a:solidFill>
              </a:rPr>
              <a:t>shared by both tasks</a:t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5457A388-8404-4E58-8BDD-753CA1537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723900"/>
            <a:ext cx="152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600" b="1">
                <a:solidFill>
                  <a:srgbClr val="89A59F"/>
                </a:solidFill>
              </a:defRPr>
            </a:pPr>
            <a:r>
              <a:rPr sz="600" b="1">
                <a:solidFill>
                  <a:srgbClr val="89A59F"/>
                </a:solidFill>
              </a:rPr>
              <a:t>03 · MULTI-SCALE FUSION</a:t>
            </a:r>
          </a:p>
        </p:txBody>
      </p:sp>
      <p:sp>
        <p:nvSpPr>
          <p:cNvPr id="121" name="P2/P3 FUSION">
            <a:extLst xmlns:a="http://schemas.openxmlformats.org/drawingml/2006/main">
              <a:ext uri="{FF2B5EF4-FFF2-40B4-BE49-F238E27FC236}">
                <a16:creationId xmlns:a16="http://schemas.microsoft.com/office/drawing/2014/main" id="{ACFC1AC4-2342-49A1-A083-D666ED00C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314450"/>
            <a:ext cx="1162050" cy="1409700"/>
          </a:xfrm>
          <a:prstGeom xmlns:a="http://schemas.openxmlformats.org/drawingml/2006/main" prst="roundRect">
            <a:avLst>
              <a:gd name="adj" fmla="val 3279"/>
            </a:avLst>
          </a:prstGeom>
          <a:solidFill xmlns:a="http://schemas.openxmlformats.org/drawingml/2006/main">
            <a:srgbClr val="0E302A"/>
          </a:solidFill>
          <a:ln xmlns:a="http://schemas.openxmlformats.org/drawingml/2006/main" w="10478">
            <a:solidFill>
              <a:srgbClr val="24E6BD"/>
            </a:solidFill>
            <a:prstDash val="solid"/>
          </a:ln>
        </p:spPr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C9E9452D-7B64-4FE6-A47D-EB2703362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381125"/>
            <a:ext cx="9715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F0FAF8"/>
                </a:solidFill>
              </a:defRPr>
            </a:pPr>
            <a:r>
              <a:rPr sz="825" b="1">
                <a:solidFill>
                  <a:srgbClr val="F0FAF8"/>
                </a:solidFill>
              </a:rPr>
              <a:t>P2/P3 FUSION</a:t>
            </a: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7A57F2F6-4283-4524-A4DC-B7A19AC9C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600200"/>
            <a:ext cx="9715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607" b="0">
                <a:solidFill>
                  <a:srgbClr val="89A59F"/>
                </a:solidFill>
              </a:defRPr>
            </a:pPr>
            <a:r>
              <a:rPr sz="607" b="0">
                <a:solidFill>
                  <a:srgbClr val="89A59F"/>
                </a:solidFill>
              </a:rPr>
              <a:t>P3 depthwise refine</a:t>
            </a:r>
          </a:p>
          <a:p xmlns:a="http://schemas.openxmlformats.org/drawingml/2006/main">
            <a:pPr algn="l">
              <a:buNone/>
              <a:defRPr sz="607" b="0">
                <a:solidFill>
                  <a:srgbClr val="89A59F"/>
                </a:solidFill>
              </a:defRPr>
            </a:pPr>
            <a:r>
              <a:rPr sz="607" b="0">
                <a:solidFill>
                  <a:srgbClr val="89A59F"/>
                </a:solidFill>
              </a:rPr>
              <a:t>2× upsample</a:t>
            </a:r>
          </a:p>
          <a:p xmlns:a="http://schemas.openxmlformats.org/drawingml/2006/main">
            <a:pPr algn="l">
              <a:buNone/>
              <a:defRPr sz="607" b="0">
                <a:solidFill>
                  <a:srgbClr val="89A59F"/>
                </a:solidFill>
              </a:defRPr>
            </a:pPr>
            <a:r>
              <a:rPr sz="607" b="0">
                <a:solidFill>
                  <a:srgbClr val="89A59F"/>
                </a:solidFill>
              </a:rPr>
              <a:t>weighted P2 merge</a:t>
            </a:r>
          </a:p>
          <a:p xmlns:a="http://schemas.openxmlformats.org/drawingml/2006/main">
            <a:pPr algn="l">
              <a:buNone/>
              <a:defRPr sz="607" b="0">
                <a:solidFill>
                  <a:srgbClr val="89A59F"/>
                </a:solidFill>
              </a:defRPr>
            </a:pPr>
            <a:r>
              <a:rPr sz="607" b="0">
                <a:solidFill>
                  <a:srgbClr val="89A59F"/>
                </a:solidFill>
              </a:rPr>
              <a:t>256 channels</a:t>
            </a: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749B307E-9A91-4454-83FB-73FE2E68D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971550"/>
            <a:ext cx="1000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600" b="0">
                <a:solidFill>
                  <a:srgbClr val="8CF8DF"/>
                </a:solidFill>
              </a:defRPr>
            </a:pPr>
            <a:r>
              <a:rPr sz="600" b="0">
                <a:solidFill>
                  <a:srgbClr val="8CF8DF"/>
                </a:solidFill>
              </a:rPr>
              <a:t>fine localization +</a:t>
            </a:r>
          </a:p>
          <a:p xmlns:a="http://schemas.openxmlformats.org/drawingml/2006/main">
            <a:pPr algn="ctr">
              <a:buNone/>
              <a:defRPr sz="600" b="0">
                <a:solidFill>
                  <a:srgbClr val="8CF8DF"/>
                </a:solidFill>
              </a:defRPr>
            </a:pPr>
            <a:r>
              <a:rPr sz="600" b="0">
                <a:solidFill>
                  <a:srgbClr val="8CF8DF"/>
                </a:solidFill>
              </a:rPr>
              <a:t>semantic appearance</a:t>
            </a: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376CAD53-6BD3-4C88-A254-DD08C1407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723900"/>
            <a:ext cx="2476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600" b="1">
                <a:solidFill>
                  <a:srgbClr val="89A59F"/>
                </a:solidFill>
              </a:defRPr>
            </a:pPr>
            <a:r>
              <a:rPr sz="600" b="1">
                <a:solidFill>
                  <a:srgbClr val="89A59F"/>
                </a:solidFill>
              </a:rPr>
              <a:t>04 · JOINT OUTPUTS</a:t>
            </a:r>
          </a:p>
        </p:txBody>
      </p:sp>
      <p:sp>
        <p:nvSpPr>
          <p:cNvPr id="126" name="CENTERNET">
            <a:extLst xmlns:a="http://schemas.openxmlformats.org/drawingml/2006/main">
              <a:ext uri="{FF2B5EF4-FFF2-40B4-BE49-F238E27FC236}">
                <a16:creationId xmlns:a16="http://schemas.microsoft.com/office/drawing/2014/main" id="{D02A78EA-6814-4B69-937C-B4CED842B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1104900"/>
            <a:ext cx="1162050" cy="1619250"/>
          </a:xfrm>
          <a:prstGeom xmlns:a="http://schemas.openxmlformats.org/drawingml/2006/main" prst="roundRect">
            <a:avLst>
              <a:gd name="adj" fmla="val 3279"/>
            </a:avLst>
          </a:prstGeom>
          <a:solidFill xmlns:a="http://schemas.openxmlformats.org/drawingml/2006/main">
            <a:srgbClr val="2A171A"/>
          </a:solidFill>
          <a:ln xmlns:a="http://schemas.openxmlformats.org/drawingml/2006/main" w="10478">
            <a:solidFill>
              <a:srgbClr val="FF6A76"/>
            </a:solidFill>
            <a:prstDash val="solid"/>
          </a:ln>
        </p:spPr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4C9451D7-03EF-4373-88F5-3D0BD410C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1171575"/>
            <a:ext cx="9715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F0FAF8"/>
                </a:solidFill>
              </a:defRPr>
            </a:pPr>
            <a:r>
              <a:rPr sz="825" b="1">
                <a:solidFill>
                  <a:srgbClr val="F0FAF8"/>
                </a:solidFill>
              </a:rPr>
              <a:t>CENTERNET</a:t>
            </a: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FDC3AD55-27D5-420F-8764-884D23287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1390650"/>
            <a:ext cx="97155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653" b="0">
                <a:solidFill>
                  <a:srgbClr val="89A59F"/>
                </a:solidFill>
              </a:defRPr>
            </a:pPr>
            <a:r>
              <a:rPr sz="653" b="0">
                <a:solidFill>
                  <a:srgbClr val="89A59F"/>
                </a:solidFill>
              </a:rPr>
              <a:t>heatmap  Ĉ</a:t>
            </a:r>
          </a:p>
          <a:p xmlns:a="http://schemas.openxmlformats.org/drawingml/2006/main">
            <a:pPr algn="l">
              <a:buNone/>
              <a:defRPr sz="653" b="0">
                <a:solidFill>
                  <a:srgbClr val="89A59F"/>
                </a:solidFill>
              </a:defRPr>
            </a:pPr>
            <a:r>
              <a:rPr sz="653" b="0">
                <a:solidFill>
                  <a:srgbClr val="89A59F"/>
                </a:solidFill>
              </a:rPr>
              <a:t>LTRB box  b̂</a:t>
            </a:r>
          </a:p>
          <a:p xmlns:a="http://schemas.openxmlformats.org/drawingml/2006/main">
            <a:pPr algn="l">
              <a:buNone/>
              <a:defRPr sz="653" b="0">
                <a:solidFill>
                  <a:srgbClr val="89A59F"/>
                </a:solidFill>
              </a:defRPr>
            </a:pPr>
            <a:r>
              <a:rPr sz="653" b="0">
                <a:solidFill>
                  <a:srgbClr val="89A59F"/>
                </a:solidFill>
              </a:rPr>
              <a:t>offset  ô</a:t>
            </a:r>
          </a:p>
          <a:p xmlns:a="http://schemas.openxmlformats.org/drawingml/2006/main">
            <a:pPr algn="l">
              <a:buNone/>
              <a:defRPr sz="653" b="0">
                <a:solidFill>
                  <a:srgbClr val="89A59F"/>
                </a:solidFill>
              </a:defRPr>
            </a:pPr>
            <a:r>
              <a:rPr sz="653" b="0">
                <a:solidFill>
                  <a:srgbClr val="89A59F"/>
                </a:solidFill>
              </a:rPr>
              <a:t>IoU quality  q̂</a:t>
            </a:r>
          </a:p>
        </p:txBody>
      </p:sp>
      <p:sp>
        <p:nvSpPr>
          <p:cNvPr id="129" name="ROI IDENTITY">
            <a:extLst xmlns:a="http://schemas.openxmlformats.org/drawingml/2006/main">
              <a:ext uri="{FF2B5EF4-FFF2-40B4-BE49-F238E27FC236}">
                <a16:creationId xmlns:a16="http://schemas.microsoft.com/office/drawing/2014/main" id="{600082A1-DF5F-4627-AA31-F6FDF659A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104900"/>
            <a:ext cx="1238250" cy="161925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0A211D"/>
          </a:solidFill>
          <a:ln xmlns:a="http://schemas.openxmlformats.org/drawingml/2006/main" w="10478">
            <a:solidFill>
              <a:srgbClr val="24E6BD"/>
            </a:solidFill>
            <a:prstDash val="solid"/>
          </a:ln>
        </p:spPr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5E0A7A12-6AF4-4704-9BE6-4DA7C59C0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1171575"/>
            <a:ext cx="10477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F0FAF8"/>
                </a:solidFill>
              </a:defRPr>
            </a:pPr>
            <a:r>
              <a:rPr sz="825" b="1">
                <a:solidFill>
                  <a:srgbClr val="F0FAF8"/>
                </a:solidFill>
              </a:rPr>
              <a:t>ROI IDENTITY</a:t>
            </a:r>
          </a:p>
        </p:txBody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D79A430A-A012-411C-81CB-C3E308303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1390650"/>
            <a:ext cx="104775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630" b="0">
                <a:solidFill>
                  <a:srgbClr val="89A59F"/>
                </a:solidFill>
              </a:defRPr>
            </a:pPr>
            <a:r>
              <a:rPr sz="630" b="0">
                <a:solidFill>
                  <a:srgbClr val="89A59F"/>
                </a:solidFill>
              </a:rPr>
              <a:t>RoIAlign 32×8</a:t>
            </a:r>
          </a:p>
          <a:p xmlns:a="http://schemas.openxmlformats.org/drawingml/2006/main">
            <a:pPr algn="l">
              <a:buNone/>
              <a:defRPr sz="630" b="0">
                <a:solidFill>
                  <a:srgbClr val="89A59F"/>
                </a:solidFill>
              </a:defRPr>
            </a:pPr>
            <a:r>
              <a:rPr sz="630" b="0">
                <a:solidFill>
                  <a:srgbClr val="89A59F"/>
                </a:solidFill>
              </a:rPr>
              <a:t>shared 256-D map</a:t>
            </a:r>
          </a:p>
        </p:txBody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42A6D0A6-B8A8-46DD-AE24-8EAFEFBBD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305050"/>
            <a:ext cx="85725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94D"/>
          </a:solidFill>
          <a:ln xmlns:a="http://schemas.openxmlformats.org/drawingml/2006/main" w="4763">
            <a:solidFill>
              <a:srgbClr val="06100F"/>
            </a:solidFill>
            <a:prstDash val="solid"/>
          </a:ln>
        </p:spPr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6E6E18DE-0BFD-4408-A8BE-BC9537B91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409825"/>
            <a:ext cx="85725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E6BD"/>
          </a:solidFill>
          <a:ln xmlns:a="http://schemas.openxmlformats.org/drawingml/2006/main" w="4763">
            <a:solidFill>
              <a:srgbClr val="06100F"/>
            </a:solidFill>
            <a:prstDash val="solid"/>
          </a:ln>
        </p:spPr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D713B189-D8B8-4011-96ED-C5BEFC7F2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514600"/>
            <a:ext cx="85725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E6BD"/>
          </a:solidFill>
          <a:ln xmlns:a="http://schemas.openxmlformats.org/drawingml/2006/main" w="4763">
            <a:solidFill>
              <a:srgbClr val="06100F"/>
            </a:solidFill>
            <a:prstDash val="solid"/>
          </a:ln>
        </p:spPr>
      </p:sp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FB593828-3CC2-4D8F-BDBF-A6A8176CF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619375"/>
            <a:ext cx="85725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FF"/>
          </a:solidFill>
          <a:ln xmlns:a="http://schemas.openxmlformats.org/drawingml/2006/main" w="4763">
            <a:solidFill>
              <a:srgbClr val="06100F"/>
            </a:solidFill>
            <a:prstDash val="solid"/>
          </a:ln>
        </p:spPr>
      </p:sp>
      <p:sp>
        <p:nvSpPr>
          <p:cNvPr id="136" name="">
            <a:extLst xmlns:a="http://schemas.openxmlformats.org/drawingml/2006/main">
              <a:ext uri="{FF2B5EF4-FFF2-40B4-BE49-F238E27FC236}">
                <a16:creationId xmlns:a16="http://schemas.microsoft.com/office/drawing/2014/main" id="{25E972E0-06C0-4983-ADA5-3DC3B739B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723900"/>
            <a:ext cx="1238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600" b="1">
                <a:solidFill>
                  <a:srgbClr val="89A59F"/>
                </a:solidFill>
              </a:defRPr>
            </a:pPr>
            <a:r>
              <a:rPr sz="600" b="1">
                <a:solidFill>
                  <a:srgbClr val="89A59F"/>
                </a:solidFill>
              </a:rPr>
              <a:t>05 · PART FUSION</a:t>
            </a:r>
          </a:p>
        </p:txBody>
      </p:sp>
      <p:sp>
        <p:nvSpPr>
          <p:cNvPr id="137" name="COORDATTN">
            <a:extLst xmlns:a="http://schemas.openxmlformats.org/drawingml/2006/main">
              <a:ext uri="{FF2B5EF4-FFF2-40B4-BE49-F238E27FC236}">
                <a16:creationId xmlns:a16="http://schemas.microsoft.com/office/drawing/2014/main" id="{24DDD0B8-1BAC-4D1F-96EF-9DBAC345A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1104900"/>
            <a:ext cx="1143000" cy="161925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102F2A"/>
          </a:solidFill>
          <a:ln xmlns:a="http://schemas.openxmlformats.org/drawingml/2006/main" w="10478">
            <a:solidFill>
              <a:srgbClr val="24E6BD"/>
            </a:solidFill>
            <a:prstDash val="solid"/>
          </a:ln>
        </p:spPr>
      </p:sp>
      <p:sp>
        <p:nvSpPr>
          <p:cNvPr id="138" name="">
            <a:extLst xmlns:a="http://schemas.openxmlformats.org/drawingml/2006/main">
              <a:ext uri="{FF2B5EF4-FFF2-40B4-BE49-F238E27FC236}">
                <a16:creationId xmlns:a16="http://schemas.microsoft.com/office/drawing/2014/main" id="{2C3FEEB9-DB41-49D7-A862-2B073F130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171575"/>
            <a:ext cx="9525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F0FAF8"/>
                </a:solidFill>
              </a:defRPr>
            </a:pPr>
            <a:r>
              <a:rPr sz="825" b="1">
                <a:solidFill>
                  <a:srgbClr val="F0FAF8"/>
                </a:solidFill>
              </a:rPr>
              <a:t>COORDATTN</a:t>
            </a:r>
          </a:p>
        </p:txBody>
      </p:sp>
      <p:sp>
        <p:nvSpPr>
          <p:cNvPr id="139" name="">
            <a:extLst xmlns:a="http://schemas.openxmlformats.org/drawingml/2006/main">
              <a:ext uri="{FF2B5EF4-FFF2-40B4-BE49-F238E27FC236}">
                <a16:creationId xmlns:a16="http://schemas.microsoft.com/office/drawing/2014/main" id="{23B940F1-46E3-437D-9B99-808DE282C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390650"/>
            <a:ext cx="95250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630" b="0">
                <a:solidFill>
                  <a:srgbClr val="89A59F"/>
                </a:solidFill>
              </a:defRPr>
            </a:pPr>
            <a:r>
              <a:rPr sz="630" b="0">
                <a:solidFill>
                  <a:srgbClr val="89A59F"/>
                </a:solidFill>
              </a:rPr>
              <a:t>αk from spatial cues</a:t>
            </a:r>
          </a:p>
          <a:p xmlns:a="http://schemas.openxmlformats.org/drawingml/2006/main">
            <a:pPr algn="l">
              <a:buNone/>
              <a:defRPr sz="630" b="0">
                <a:solidFill>
                  <a:srgbClr val="89A59F"/>
                </a:solidFill>
              </a:defRPr>
            </a:pPr>
            <a:r>
              <a:rPr sz="630" b="0">
                <a:solidFill>
                  <a:srgbClr val="89A59F"/>
                </a:solidFill>
              </a:rPr>
              <a:t>weighted strip fusion</a:t>
            </a:r>
          </a:p>
          <a:p xmlns:a="http://schemas.openxmlformats.org/drawingml/2006/main">
            <a:pPr algn="l">
              <a:buNone/>
              <a:defRPr sz="630" b="0">
                <a:solidFill>
                  <a:srgbClr val="89A59F"/>
                </a:solidFill>
              </a:defRPr>
            </a:pPr>
            <a:r>
              <a:rPr sz="630" b="0">
                <a:solidFill>
                  <a:srgbClr val="89A59F"/>
                </a:solidFill>
              </a:rPr>
              <a:t>BNNeck + L2 norm</a:t>
            </a:r>
          </a:p>
          <a:p xmlns:a="http://schemas.openxmlformats.org/drawingml/2006/main">
            <a:pPr algn="l">
              <a:buNone/>
              <a:defRPr sz="630" b="0">
                <a:solidFill>
                  <a:srgbClr val="89A59F"/>
                </a:solidFill>
              </a:defRPr>
            </a:pPr>
            <a:r>
              <a:rPr sz="630" b="0">
                <a:solidFill>
                  <a:srgbClr val="89A59F"/>
                </a:solidFill>
              </a:rPr>
              <a:t>z ∈ ℝ²⁵⁶</a:t>
            </a:r>
          </a:p>
        </p:txBody>
      </p:sp>
      <p:sp>
        <p:nvSpPr>
          <p:cNvPr id="140" name="">
            <a:extLst xmlns:a="http://schemas.openxmlformats.org/drawingml/2006/main">
              <a:ext uri="{FF2B5EF4-FFF2-40B4-BE49-F238E27FC236}">
                <a16:creationId xmlns:a16="http://schemas.microsoft.com/office/drawing/2014/main" id="{5D2110D3-3449-4EB2-B52F-D7B749A3E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076450"/>
            <a:ext cx="4953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9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1" name="">
            <a:extLst xmlns:a="http://schemas.openxmlformats.org/drawingml/2006/main">
              <a:ext uri="{FF2B5EF4-FFF2-40B4-BE49-F238E27FC236}">
                <a16:creationId xmlns:a16="http://schemas.microsoft.com/office/drawing/2014/main" id="{A7D7D442-2E46-42B5-A63C-E44853309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190750"/>
            <a:ext cx="8001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E6B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" name="">
            <a:extLst xmlns:a="http://schemas.openxmlformats.org/drawingml/2006/main">
              <a:ext uri="{FF2B5EF4-FFF2-40B4-BE49-F238E27FC236}">
                <a16:creationId xmlns:a16="http://schemas.microsoft.com/office/drawing/2014/main" id="{D08665BB-2C77-4B6F-87F6-0914510C6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305050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E6B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" name="">
            <a:extLst xmlns:a="http://schemas.openxmlformats.org/drawingml/2006/main">
              <a:ext uri="{FF2B5EF4-FFF2-40B4-BE49-F238E27FC236}">
                <a16:creationId xmlns:a16="http://schemas.microsoft.com/office/drawing/2014/main" id="{B78C35F1-945F-4DCF-A8EF-54940D92C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419350"/>
            <a:ext cx="371475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E6B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4" name="">
            <a:extLst xmlns:a="http://schemas.openxmlformats.org/drawingml/2006/main">
              <a:ext uri="{FF2B5EF4-FFF2-40B4-BE49-F238E27FC236}">
                <a16:creationId xmlns:a16="http://schemas.microsoft.com/office/drawing/2014/main" id="{B0A013CD-4531-47F4-B02F-57D3F2D48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723900"/>
            <a:ext cx="152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600" b="1">
                <a:solidFill>
                  <a:srgbClr val="89A59F"/>
                </a:solidFill>
              </a:defRPr>
            </a:pPr>
            <a:r>
              <a:rPr sz="600" b="1">
                <a:solidFill>
                  <a:srgbClr val="89A59F"/>
                </a:solidFill>
              </a:rPr>
              <a:t>06 · ASSOCIATION</a:t>
            </a:r>
          </a:p>
        </p:txBody>
      </p:sp>
      <p:sp>
        <p:nvSpPr>
          <p:cNvPr id="145" name="BoT-SORT">
            <a:extLst xmlns:a="http://schemas.openxmlformats.org/drawingml/2006/main">
              <a:ext uri="{FF2B5EF4-FFF2-40B4-BE49-F238E27FC236}">
                <a16:creationId xmlns:a16="http://schemas.microsoft.com/office/drawing/2014/main" id="{44FA1069-E8F9-44D9-8B40-DA6390DD7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1104900"/>
            <a:ext cx="952500" cy="161925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0A1B26"/>
          </a:solidFill>
          <a:ln xmlns:a="http://schemas.openxmlformats.org/drawingml/2006/main" w="10478">
            <a:solidFill>
              <a:srgbClr val="55AFFF"/>
            </a:solidFill>
            <a:prstDash val="solid"/>
          </a:ln>
        </p:spPr>
      </p:sp>
      <p:sp>
        <p:nvSpPr>
          <p:cNvPr id="146" name="">
            <a:extLst xmlns:a="http://schemas.openxmlformats.org/drawingml/2006/main">
              <a:ext uri="{FF2B5EF4-FFF2-40B4-BE49-F238E27FC236}">
                <a16:creationId xmlns:a16="http://schemas.microsoft.com/office/drawing/2014/main" id="{1C34409F-62E7-4DB4-AA20-161189484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1171575"/>
            <a:ext cx="762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F0FAF8"/>
                </a:solidFill>
              </a:defRPr>
            </a:pPr>
            <a:r>
              <a:rPr sz="825" b="1">
                <a:solidFill>
                  <a:srgbClr val="F0FAF8"/>
                </a:solidFill>
              </a:rPr>
              <a:t>BoT-SORT</a:t>
            </a:r>
          </a:p>
        </p:txBody>
      </p:sp>
      <p:sp>
        <p:nvSpPr>
          <p:cNvPr id="147" name="">
            <a:extLst xmlns:a="http://schemas.openxmlformats.org/drawingml/2006/main">
              <a:ext uri="{FF2B5EF4-FFF2-40B4-BE49-F238E27FC236}">
                <a16:creationId xmlns:a16="http://schemas.microsoft.com/office/drawing/2014/main" id="{A415DC66-E159-4C46-95B2-871142A11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1390650"/>
            <a:ext cx="76200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607" b="0">
                <a:solidFill>
                  <a:srgbClr val="89A59F"/>
                </a:solidFill>
              </a:defRPr>
            </a:pPr>
            <a:r>
              <a:rPr sz="607" b="0">
                <a:solidFill>
                  <a:srgbClr val="89A59F"/>
                </a:solidFill>
              </a:rPr>
              <a:t>Kalman motion</a:t>
            </a:r>
          </a:p>
          <a:p xmlns:a="http://schemas.openxmlformats.org/drawingml/2006/main">
            <a:pPr algn="l">
              <a:buNone/>
              <a:defRPr sz="607" b="0">
                <a:solidFill>
                  <a:srgbClr val="89A59F"/>
                </a:solidFill>
              </a:defRPr>
            </a:pPr>
            <a:r>
              <a:rPr sz="607" b="0">
                <a:solidFill>
                  <a:srgbClr val="89A59F"/>
                </a:solidFill>
              </a:rPr>
              <a:t>IoU cascade</a:t>
            </a:r>
          </a:p>
          <a:p xmlns:a="http://schemas.openxmlformats.org/drawingml/2006/main">
            <a:pPr algn="l">
              <a:buNone/>
              <a:defRPr sz="607" b="0">
                <a:solidFill>
                  <a:srgbClr val="89A59F"/>
                </a:solidFill>
              </a:defRPr>
            </a:pPr>
            <a:r>
              <a:rPr sz="607" b="0">
                <a:solidFill>
                  <a:srgbClr val="89A59F"/>
                </a:solidFill>
              </a:rPr>
              <a:t>cosine gallery</a:t>
            </a:r>
          </a:p>
          <a:p xmlns:a="http://schemas.openxmlformats.org/drawingml/2006/main">
            <a:pPr algn="l">
              <a:buNone/>
              <a:defRPr sz="607" b="0">
                <a:solidFill>
                  <a:srgbClr val="89A59F"/>
                </a:solidFill>
              </a:defRPr>
            </a:pPr>
            <a:r>
              <a:rPr sz="607" b="0">
                <a:solidFill>
                  <a:srgbClr val="89A59F"/>
                </a:solidFill>
              </a:rPr>
              <a:t>local track IDs</a:t>
            </a:r>
          </a:p>
        </p:txBody>
      </p:sp>
      <p:sp>
        <p:nvSpPr>
          <p:cNvPr id="148" name="GLOBAL">
            <a:extLst xmlns:a="http://schemas.openxmlformats.org/drawingml/2006/main">
              <a:ext uri="{FF2B5EF4-FFF2-40B4-BE49-F238E27FC236}">
                <a16:creationId xmlns:a16="http://schemas.microsoft.com/office/drawing/2014/main" id="{E47E941C-E910-45EE-9032-49597ADD6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1104900"/>
            <a:ext cx="819150" cy="1619250"/>
          </a:xfrm>
          <a:prstGeom xmlns:a="http://schemas.openxmlformats.org/drawingml/2006/main" prst="roundRect">
            <a:avLst>
              <a:gd name="adj" fmla="val 4651"/>
            </a:avLst>
          </a:prstGeom>
          <a:solidFill xmlns:a="http://schemas.openxmlformats.org/drawingml/2006/main">
            <a:srgbClr val="2A2215"/>
          </a:solidFill>
          <a:ln xmlns:a="http://schemas.openxmlformats.org/drawingml/2006/main" w="10478">
            <a:solidFill>
              <a:srgbClr val="E8A94D"/>
            </a:solidFill>
            <a:prstDash val="solid"/>
          </a:ln>
        </p:spPr>
      </p:sp>
      <p:sp>
        <p:nvSpPr>
          <p:cNvPr id="149" name="">
            <a:extLst xmlns:a="http://schemas.openxmlformats.org/drawingml/2006/main">
              <a:ext uri="{FF2B5EF4-FFF2-40B4-BE49-F238E27FC236}">
                <a16:creationId xmlns:a16="http://schemas.microsoft.com/office/drawing/2014/main" id="{B79DFBA3-2455-400D-9E5C-349369193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1171575"/>
            <a:ext cx="6286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713" b="1">
                <a:solidFill>
                  <a:srgbClr val="F0FAF8"/>
                </a:solidFill>
              </a:defRPr>
            </a:pPr>
            <a:r>
              <a:rPr sz="713" b="1">
                <a:solidFill>
                  <a:srgbClr val="F0FAF8"/>
                </a:solidFill>
              </a:rPr>
              <a:t>GLOBAL</a:t>
            </a:r>
          </a:p>
        </p:txBody>
      </p:sp>
      <p:sp>
        <p:nvSpPr>
          <p:cNvPr id="150" name="">
            <a:extLst xmlns:a="http://schemas.openxmlformats.org/drawingml/2006/main">
              <a:ext uri="{FF2B5EF4-FFF2-40B4-BE49-F238E27FC236}">
                <a16:creationId xmlns:a16="http://schemas.microsoft.com/office/drawing/2014/main" id="{93BB9EC0-8E9A-4E63-ACF0-679B8DAA9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1390650"/>
            <a:ext cx="62865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555" b="0">
                <a:solidFill>
                  <a:srgbClr val="89A59F"/>
                </a:solidFill>
              </a:defRPr>
            </a:pPr>
            <a:r>
              <a:rPr sz="555" b="0">
                <a:solidFill>
                  <a:srgbClr val="89A59F"/>
                </a:solidFill>
              </a:rPr>
              <a:t>top-k ranking</a:t>
            </a:r>
          </a:p>
          <a:p xmlns:a="http://schemas.openxmlformats.org/drawingml/2006/main">
            <a:pPr algn="ctr">
              <a:buNone/>
              <a:defRPr sz="555" b="0">
                <a:solidFill>
                  <a:srgbClr val="89A59F"/>
                </a:solidFill>
              </a:defRPr>
            </a:pPr>
            <a:r>
              <a:rPr sz="555" b="0">
                <a:solidFill>
                  <a:srgbClr val="89A59F"/>
                </a:solidFill>
              </a:rPr>
              <a:t>cross-camera</a:t>
            </a:r>
          </a:p>
          <a:p xmlns:a="http://schemas.openxmlformats.org/drawingml/2006/main">
            <a:pPr algn="ctr">
              <a:buNone/>
              <a:defRPr sz="555" b="0">
                <a:solidFill>
                  <a:srgbClr val="89A59F"/>
                </a:solidFill>
              </a:defRPr>
            </a:pPr>
            <a:r>
              <a:rPr sz="555" b="0">
                <a:solidFill>
                  <a:srgbClr val="89A59F"/>
                </a:solidFill>
              </a:rPr>
              <a:t>candidates</a:t>
            </a:r>
          </a:p>
        </p:txBody>
      </p:sp>
      <p:sp>
        <p:nvSpPr>
          <p:cNvPr id="151" name="">
            <a:extLst xmlns:a="http://schemas.openxmlformats.org/drawingml/2006/main">
              <a:ext uri="{FF2B5EF4-FFF2-40B4-BE49-F238E27FC236}">
                <a16:creationId xmlns:a16="http://schemas.microsoft.com/office/drawing/2014/main" id="{77EF52F4-7F1D-42D4-9153-6FF9FD034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3028950"/>
            <a:ext cx="590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600" b="1">
                <a:solidFill>
                  <a:srgbClr val="89A59F"/>
                </a:solidFill>
              </a:defRPr>
            </a:pPr>
            <a:r>
              <a:rPr sz="600" b="1">
                <a:solidFill>
                  <a:srgbClr val="89A59F"/>
                </a:solidFill>
              </a:rPr>
              <a:t>07 · REVIEWABLE OUTPUTS</a:t>
            </a:r>
          </a:p>
        </p:txBody>
      </p:sp>
      <p:sp>
        <p:nvSpPr>
          <p:cNvPr id="152" name="DETECTIONS">
            <a:extLst xmlns:a="http://schemas.openxmlformats.org/drawingml/2006/main">
              <a:ext uri="{FF2B5EF4-FFF2-40B4-BE49-F238E27FC236}">
                <a16:creationId xmlns:a16="http://schemas.microsoft.com/office/drawing/2014/main" id="{2575958F-0C10-4BCC-9E5C-D6A44FD30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3238500"/>
            <a:ext cx="1162050" cy="8382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0A211D"/>
          </a:solidFill>
          <a:ln xmlns:a="http://schemas.openxmlformats.org/drawingml/2006/main" w="10478">
            <a:solidFill>
              <a:srgbClr val="FF6A76"/>
            </a:solidFill>
            <a:prstDash val="solid"/>
          </a:ln>
        </p:spPr>
      </p:sp>
      <p:sp>
        <p:nvSpPr>
          <p:cNvPr id="153" name="">
            <a:extLst xmlns:a="http://schemas.openxmlformats.org/drawingml/2006/main">
              <a:ext uri="{FF2B5EF4-FFF2-40B4-BE49-F238E27FC236}">
                <a16:creationId xmlns:a16="http://schemas.microsoft.com/office/drawing/2014/main" id="{6595947D-A6EB-4B31-8EC5-1C5B9B5D9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3305175"/>
            <a:ext cx="9715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F0FAF8"/>
                </a:solidFill>
              </a:defRPr>
            </a:pPr>
            <a:r>
              <a:rPr sz="750" b="1">
                <a:solidFill>
                  <a:srgbClr val="F0FAF8"/>
                </a:solidFill>
              </a:rPr>
              <a:t>DETECTIONS</a:t>
            </a:r>
          </a:p>
        </p:txBody>
      </p:sp>
      <p:sp>
        <p:nvSpPr>
          <p:cNvPr id="154" name="">
            <a:extLst xmlns:a="http://schemas.openxmlformats.org/drawingml/2006/main">
              <a:ext uri="{FF2B5EF4-FFF2-40B4-BE49-F238E27FC236}">
                <a16:creationId xmlns:a16="http://schemas.microsoft.com/office/drawing/2014/main" id="{787ECE0A-4A81-47DE-A843-16AEB7B41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3524250"/>
            <a:ext cx="9715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600" b="0">
                <a:solidFill>
                  <a:srgbClr val="89A59F"/>
                </a:solidFill>
              </a:defRPr>
            </a:pPr>
            <a:r>
              <a:rPr sz="600" b="0">
                <a:solidFill>
                  <a:srgbClr val="89A59F"/>
                </a:solidFill>
              </a:rPr>
              <a:t>{x₁,y₁,x₂,y₂}</a:t>
            </a:r>
          </a:p>
          <a:p xmlns:a="http://schemas.openxmlformats.org/drawingml/2006/main">
            <a:pPr algn="l">
              <a:buNone/>
              <a:defRPr sz="600" b="0">
                <a:solidFill>
                  <a:srgbClr val="89A59F"/>
                </a:solidFill>
              </a:defRPr>
            </a:pPr>
            <a:r>
              <a:rPr sz="600" b="0">
                <a:solidFill>
                  <a:srgbClr val="89A59F"/>
                </a:solidFill>
              </a:rPr>
              <a:t>confidence · frame</a:t>
            </a:r>
          </a:p>
        </p:txBody>
      </p:sp>
      <p:sp>
        <p:nvSpPr>
          <p:cNvPr id="155" name="LOCAL TRACKS">
            <a:extLst xmlns:a="http://schemas.openxmlformats.org/drawingml/2006/main">
              <a:ext uri="{FF2B5EF4-FFF2-40B4-BE49-F238E27FC236}">
                <a16:creationId xmlns:a16="http://schemas.microsoft.com/office/drawing/2014/main" id="{EED974A5-EDD2-4FB8-BD4A-848AAAA7E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238500"/>
            <a:ext cx="1238250" cy="8382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0A211D"/>
          </a:solidFill>
          <a:ln xmlns:a="http://schemas.openxmlformats.org/drawingml/2006/main" w="10478">
            <a:solidFill>
              <a:srgbClr val="55AFFF"/>
            </a:solidFill>
            <a:prstDash val="solid"/>
          </a:ln>
        </p:spPr>
      </p:sp>
      <p:sp>
        <p:nvSpPr>
          <p:cNvPr id="156" name="">
            <a:extLst xmlns:a="http://schemas.openxmlformats.org/drawingml/2006/main">
              <a:ext uri="{FF2B5EF4-FFF2-40B4-BE49-F238E27FC236}">
                <a16:creationId xmlns:a16="http://schemas.microsoft.com/office/drawing/2014/main" id="{7CB844DA-C3FE-4499-8DF4-0464B0829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305175"/>
            <a:ext cx="10477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F0FAF8"/>
                </a:solidFill>
              </a:defRPr>
            </a:pPr>
            <a:r>
              <a:rPr sz="750" b="1">
                <a:solidFill>
                  <a:srgbClr val="F0FAF8"/>
                </a:solidFill>
              </a:rPr>
              <a:t>LOCAL TRACKS</a:t>
            </a:r>
          </a:p>
        </p:txBody>
      </p:sp>
      <p:sp>
        <p:nvSpPr>
          <p:cNvPr id="157" name="">
            <a:extLst xmlns:a="http://schemas.openxmlformats.org/drawingml/2006/main">
              <a:ext uri="{FF2B5EF4-FFF2-40B4-BE49-F238E27FC236}">
                <a16:creationId xmlns:a16="http://schemas.microsoft.com/office/drawing/2014/main" id="{D51540EE-BFCF-4E4E-853C-93909B743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524250"/>
            <a:ext cx="1047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600" b="0">
                <a:solidFill>
                  <a:srgbClr val="89A59F"/>
                </a:solidFill>
              </a:defRPr>
            </a:pPr>
            <a:r>
              <a:rPr sz="600" b="0">
                <a:solidFill>
                  <a:srgbClr val="89A59F"/>
                </a:solidFill>
              </a:rPr>
              <a:t>track ID · trajectory</a:t>
            </a:r>
          </a:p>
          <a:p xmlns:a="http://schemas.openxmlformats.org/drawingml/2006/main">
            <a:pPr algn="l">
              <a:buNone/>
              <a:defRPr sz="600" b="0">
                <a:solidFill>
                  <a:srgbClr val="89A59F"/>
                </a:solidFill>
              </a:defRPr>
            </a:pPr>
            <a:r>
              <a:rPr sz="600" b="0">
                <a:solidFill>
                  <a:srgbClr val="89A59F"/>
                </a:solidFill>
              </a:rPr>
              <a:t>appearance gallery</a:t>
            </a:r>
          </a:p>
        </p:txBody>
      </p:sp>
      <p:sp>
        <p:nvSpPr>
          <p:cNvPr id="158" name="IDENTITY EVIDENCE">
            <a:extLst xmlns:a="http://schemas.openxmlformats.org/drawingml/2006/main">
              <a:ext uri="{FF2B5EF4-FFF2-40B4-BE49-F238E27FC236}">
                <a16:creationId xmlns:a16="http://schemas.microsoft.com/office/drawing/2014/main" id="{CA72C115-6BE4-49E4-B6B8-BA58F64DD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238500"/>
            <a:ext cx="1143000" cy="8382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0A211D"/>
          </a:solidFill>
          <a:ln xmlns:a="http://schemas.openxmlformats.org/drawingml/2006/main" w="10478">
            <a:solidFill>
              <a:srgbClr val="24E6BD"/>
            </a:solidFill>
            <a:prstDash val="solid"/>
          </a:ln>
        </p:spPr>
      </p:sp>
      <p:sp>
        <p:nvSpPr>
          <p:cNvPr id="159" name="">
            <a:extLst xmlns:a="http://schemas.openxmlformats.org/drawingml/2006/main">
              <a:ext uri="{FF2B5EF4-FFF2-40B4-BE49-F238E27FC236}">
                <a16:creationId xmlns:a16="http://schemas.microsoft.com/office/drawing/2014/main" id="{10D812FC-7A1F-474C-A56D-2F45DE6BA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3305175"/>
            <a:ext cx="9525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690" b="1">
                <a:solidFill>
                  <a:srgbClr val="F0FAF8"/>
                </a:solidFill>
              </a:defRPr>
            </a:pPr>
            <a:r>
              <a:rPr sz="690" b="1">
                <a:solidFill>
                  <a:srgbClr val="F0FAF8"/>
                </a:solidFill>
              </a:rPr>
              <a:t>IDENTITY EVIDENCE</a:t>
            </a:r>
          </a:p>
        </p:txBody>
      </p:sp>
      <p:sp>
        <p:nvSpPr>
          <p:cNvPr id="160" name="">
            <a:extLst xmlns:a="http://schemas.openxmlformats.org/drawingml/2006/main">
              <a:ext uri="{FF2B5EF4-FFF2-40B4-BE49-F238E27FC236}">
                <a16:creationId xmlns:a16="http://schemas.microsoft.com/office/drawing/2014/main" id="{8D1800CF-CB6E-4121-86B1-6AC4C156E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3524250"/>
            <a:ext cx="952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600" b="0">
                <a:solidFill>
                  <a:srgbClr val="89A59F"/>
                </a:solidFill>
              </a:defRPr>
            </a:pPr>
            <a:r>
              <a:rPr sz="600" b="0">
                <a:solidFill>
                  <a:srgbClr val="89A59F"/>
                </a:solidFill>
              </a:rPr>
              <a:t>256-D descriptor</a:t>
            </a:r>
          </a:p>
          <a:p xmlns:a="http://schemas.openxmlformats.org/drawingml/2006/main">
            <a:pPr algn="l">
              <a:buNone/>
              <a:defRPr sz="600" b="0">
                <a:solidFill>
                  <a:srgbClr val="89A59F"/>
                </a:solidFill>
              </a:defRPr>
            </a:pPr>
            <a:r>
              <a:rPr sz="600" b="0">
                <a:solidFill>
                  <a:srgbClr val="89A59F"/>
                </a:solidFill>
              </a:rPr>
              <a:t>part visibility</a:t>
            </a:r>
          </a:p>
        </p:txBody>
      </p:sp>
      <p:sp>
        <p:nvSpPr>
          <p:cNvPr id="161" name="CANDIDATES">
            <a:extLst xmlns:a="http://schemas.openxmlformats.org/drawingml/2006/main">
              <a:ext uri="{FF2B5EF4-FFF2-40B4-BE49-F238E27FC236}">
                <a16:creationId xmlns:a16="http://schemas.microsoft.com/office/drawing/2014/main" id="{BAB9E08E-E309-400B-8AF6-19D1D7D17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3238500"/>
            <a:ext cx="952500" cy="8382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0A211D"/>
          </a:solidFill>
          <a:ln xmlns:a="http://schemas.openxmlformats.org/drawingml/2006/main" w="10478">
            <a:solidFill>
              <a:srgbClr val="E8A94D"/>
            </a:solidFill>
            <a:prstDash val="solid"/>
          </a:ln>
        </p:spPr>
      </p:sp>
      <p:sp>
        <p:nvSpPr>
          <p:cNvPr id="162" name="">
            <a:extLst xmlns:a="http://schemas.openxmlformats.org/drawingml/2006/main">
              <a:ext uri="{FF2B5EF4-FFF2-40B4-BE49-F238E27FC236}">
                <a16:creationId xmlns:a16="http://schemas.microsoft.com/office/drawing/2014/main" id="{13760E06-658D-4911-84A6-6ACEE3BFE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3305175"/>
            <a:ext cx="762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690" b="1">
                <a:solidFill>
                  <a:srgbClr val="F0FAF8"/>
                </a:solidFill>
              </a:defRPr>
            </a:pPr>
            <a:r>
              <a:rPr sz="690" b="1">
                <a:solidFill>
                  <a:srgbClr val="F0FAF8"/>
                </a:solidFill>
              </a:rPr>
              <a:t>CANDIDATES</a:t>
            </a:r>
          </a:p>
        </p:txBody>
      </p:sp>
      <p:sp>
        <p:nvSpPr>
          <p:cNvPr id="163" name="">
            <a:extLst xmlns:a="http://schemas.openxmlformats.org/drawingml/2006/main">
              <a:ext uri="{FF2B5EF4-FFF2-40B4-BE49-F238E27FC236}">
                <a16:creationId xmlns:a16="http://schemas.microsoft.com/office/drawing/2014/main" id="{E948E357-204B-4B34-AA7B-5EF1E0C1F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3524250"/>
            <a:ext cx="762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600" b="0">
                <a:solidFill>
                  <a:srgbClr val="89A59F"/>
                </a:solidFill>
              </a:defRPr>
            </a:pPr>
            <a:r>
              <a:rPr sz="600" b="0">
                <a:solidFill>
                  <a:srgbClr val="89A59F"/>
                </a:solidFill>
              </a:rPr>
              <a:t>rank · similarity</a:t>
            </a:r>
          </a:p>
          <a:p xmlns:a="http://schemas.openxmlformats.org/drawingml/2006/main">
            <a:pPr algn="l">
              <a:buNone/>
              <a:defRPr sz="600" b="0">
                <a:solidFill>
                  <a:srgbClr val="89A59F"/>
                </a:solidFill>
              </a:defRPr>
            </a:pPr>
            <a:r>
              <a:rPr sz="600" b="0">
                <a:solidFill>
                  <a:srgbClr val="89A59F"/>
                </a:solidFill>
              </a:rPr>
              <a:t>confidence band</a:t>
            </a:r>
          </a:p>
        </p:txBody>
      </p:sp>
      <p:sp>
        <p:nvSpPr>
          <p:cNvPr id="164" name="ANALYST UI">
            <a:extLst xmlns:a="http://schemas.openxmlformats.org/drawingml/2006/main">
              <a:ext uri="{FF2B5EF4-FFF2-40B4-BE49-F238E27FC236}">
                <a16:creationId xmlns:a16="http://schemas.microsoft.com/office/drawing/2014/main" id="{BB973019-BE9F-44A9-8EBC-953888A43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238500"/>
            <a:ext cx="819150" cy="838200"/>
          </a:xfrm>
          <a:prstGeom xmlns:a="http://schemas.openxmlformats.org/drawingml/2006/main" prst="roundRect">
            <a:avLst>
              <a:gd name="adj" fmla="val 4651"/>
            </a:avLst>
          </a:prstGeom>
          <a:solidFill xmlns:a="http://schemas.openxmlformats.org/drawingml/2006/main">
            <a:srgbClr val="0A211D"/>
          </a:solidFill>
          <a:ln xmlns:a="http://schemas.openxmlformats.org/drawingml/2006/main" w="10478">
            <a:solidFill>
              <a:srgbClr val="E8A94D"/>
            </a:solidFill>
            <a:prstDash val="solid"/>
          </a:ln>
        </p:spPr>
      </p:sp>
      <p:sp>
        <p:nvSpPr>
          <p:cNvPr id="165" name="">
            <a:extLst xmlns:a="http://schemas.openxmlformats.org/drawingml/2006/main">
              <a:ext uri="{FF2B5EF4-FFF2-40B4-BE49-F238E27FC236}">
                <a16:creationId xmlns:a16="http://schemas.microsoft.com/office/drawing/2014/main" id="{16CB17B6-F51F-468C-A690-15C09E556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305175"/>
            <a:ext cx="6286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660" b="1">
                <a:solidFill>
                  <a:srgbClr val="F0FAF8"/>
                </a:solidFill>
              </a:defRPr>
            </a:pPr>
            <a:r>
              <a:rPr sz="660" b="1">
                <a:solidFill>
                  <a:srgbClr val="F0FAF8"/>
                </a:solidFill>
              </a:rPr>
              <a:t>ANALYST UI</a:t>
            </a:r>
          </a:p>
        </p:txBody>
      </p:sp>
      <p:sp>
        <p:nvSpPr>
          <p:cNvPr id="166" name="">
            <a:extLst xmlns:a="http://schemas.openxmlformats.org/drawingml/2006/main">
              <a:ext uri="{FF2B5EF4-FFF2-40B4-BE49-F238E27FC236}">
                <a16:creationId xmlns:a16="http://schemas.microsoft.com/office/drawing/2014/main" id="{A4AE0218-085A-42ED-AC44-46F820D2D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524250"/>
            <a:ext cx="628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563" b="0">
                <a:solidFill>
                  <a:srgbClr val="89A59F"/>
                </a:solidFill>
              </a:defRPr>
            </a:pPr>
            <a:r>
              <a:rPr sz="563" b="0">
                <a:solidFill>
                  <a:srgbClr val="89A59F"/>
                </a:solidFill>
              </a:rPr>
              <a:t>human review</a:t>
            </a:r>
          </a:p>
          <a:p xmlns:a="http://schemas.openxmlformats.org/drawingml/2006/main">
            <a:pPr algn="ctr">
              <a:buNone/>
              <a:defRPr sz="563" b="0">
                <a:solidFill>
                  <a:srgbClr val="89A59F"/>
                </a:solidFill>
              </a:defRPr>
            </a:pPr>
            <a:r>
              <a:rPr sz="563" b="0">
                <a:solidFill>
                  <a:srgbClr val="89A59F"/>
                </a:solidFill>
              </a:rPr>
              <a:t>evidence details</a:t>
            </a:r>
          </a:p>
        </p:txBody>
      </p:sp>
      <p:sp>
        <p:nvSpPr>
          <p:cNvPr id="167" name="">
            <a:extLst xmlns:a="http://schemas.openxmlformats.org/drawingml/2006/main">
              <a:ext uri="{FF2B5EF4-FFF2-40B4-BE49-F238E27FC236}">
                <a16:creationId xmlns:a16="http://schemas.microsoft.com/office/drawing/2014/main" id="{AFA44AE8-2396-4AF5-939A-1719F3848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43434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600" b="1">
                <a:solidFill>
                  <a:srgbClr val="89A59F"/>
                </a:solidFill>
              </a:defRPr>
            </a:pPr>
            <a:r>
              <a:rPr sz="600" b="1">
                <a:solidFill>
                  <a:srgbClr val="89A59F"/>
                </a:solidFill>
              </a:rPr>
              <a:t>TRAINING OBJECTIVE / EDITABLE EQUATIONS</a:t>
            </a:r>
          </a:p>
        </p:txBody>
      </p:sp>
      <p:sp>
        <p:nvSpPr>
          <p:cNvPr id="168" name="">
            <a:extLst xmlns:a="http://schemas.openxmlformats.org/drawingml/2006/main">
              <a:ext uri="{FF2B5EF4-FFF2-40B4-BE49-F238E27FC236}">
                <a16:creationId xmlns:a16="http://schemas.microsoft.com/office/drawing/2014/main" id="{B91207C0-FA02-4F2B-B0FE-FD1CCCDD0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4610100"/>
            <a:ext cx="952500" cy="1714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F6A76"/>
          </a:solidFill>
          <a:ln xmlns:a="http://schemas.openxmlformats.org/drawingml/2006/main" w="0">
            <a:solidFill>
              <a:srgbClr val="FF6A76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525" b="1">
                <a:solidFill>
                  <a:srgbClr val="06100F"/>
                </a:solidFill>
              </a:defRPr>
            </a:pPr>
            <a:r>
              <a:rPr sz="525" b="1">
                <a:solidFill>
                  <a:srgbClr val="06100F"/>
                </a:solidFill>
              </a:rPr>
              <a:t>DETECTION</a:t>
            </a:r>
          </a:p>
        </p:txBody>
      </p:sp>
      <p:sp>
        <p:nvSpPr>
          <p:cNvPr id="169" name="">
            <a:extLst xmlns:a="http://schemas.openxmlformats.org/drawingml/2006/main">
              <a:ext uri="{FF2B5EF4-FFF2-40B4-BE49-F238E27FC236}">
                <a16:creationId xmlns:a16="http://schemas.microsoft.com/office/drawing/2014/main" id="{0EEFDCE7-C779-4BE7-ACAF-7B6650432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591050"/>
            <a:ext cx="10668000" cy="2286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81A17"/>
          </a:solidFill>
          <a:ln xmlns:a="http://schemas.openxmlformats.org/drawingml/2006/main" w="5715">
            <a:solidFill>
              <a:srgbClr val="25554C"/>
            </a:solidFill>
            <a:prstDash val="solid"/>
          </a:ln>
        </p:spPr>
      </p:sp>
      <p:sp>
        <p:nvSpPr>
          <p:cNvPr id="170" name="">
            <a:extLst xmlns:a="http://schemas.openxmlformats.org/drawingml/2006/main">
              <a:ext uri="{FF2B5EF4-FFF2-40B4-BE49-F238E27FC236}">
                <a16:creationId xmlns:a16="http://schemas.microsoft.com/office/drawing/2014/main" id="{752F9ADA-D297-40B0-9173-3BF3BFBFC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657725"/>
            <a:ext cx="104775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71" name="">
            <a:extLst xmlns:a="http://schemas.openxmlformats.org/drawingml/2006/main">
              <a:ext uri="{FF2B5EF4-FFF2-40B4-BE49-F238E27FC236}">
                <a16:creationId xmlns:a16="http://schemas.microsoft.com/office/drawing/2014/main" id="{3808635F-021A-4572-BE80-21B3640F2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9225" y="4600575"/>
            <a:ext cx="10363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765" b="0">
                <a:solidFill>
                  <a:srgbClr val="F0FAF8"/>
                </a:solidFill>
              </a:defRPr>
            </a:pPr>
            <a:r>
              <a:rPr sz="765" b="0">
                <a:solidFill>
                  <a:srgbClr val="F0FAF8"/>
                </a:solidFill>
              </a:rPr>
              <a:t>Ldet = Lfocal(Ĉ,C) + λbox L1(b̂,b) + λiou LgIoU(b̂,b)</a:t>
            </a:r>
          </a:p>
        </p:txBody>
      </p:sp>
      <p:sp>
        <p:nvSpPr>
          <p:cNvPr id="172" name="">
            <a:extLst xmlns:a="http://schemas.openxmlformats.org/drawingml/2006/main">
              <a:ext uri="{FF2B5EF4-FFF2-40B4-BE49-F238E27FC236}">
                <a16:creationId xmlns:a16="http://schemas.microsoft.com/office/drawing/2014/main" id="{43F5209B-7649-4F7E-9C16-FA165116A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4905375"/>
            <a:ext cx="952500" cy="1714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24E6BD"/>
          </a:solidFill>
          <a:ln xmlns:a="http://schemas.openxmlformats.org/drawingml/2006/main" w="0">
            <a:solidFill>
              <a:srgbClr val="24E6BD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525" b="1">
                <a:solidFill>
                  <a:srgbClr val="06100F"/>
                </a:solidFill>
              </a:defRPr>
            </a:pPr>
            <a:r>
              <a:rPr sz="525" b="1">
                <a:solidFill>
                  <a:srgbClr val="06100F"/>
                </a:solidFill>
              </a:rPr>
              <a:t>ATTENTION FUSION</a:t>
            </a:r>
          </a:p>
        </p:txBody>
      </p:sp>
      <p:sp>
        <p:nvSpPr>
          <p:cNvPr id="173" name="">
            <a:extLst xmlns:a="http://schemas.openxmlformats.org/drawingml/2006/main">
              <a:ext uri="{FF2B5EF4-FFF2-40B4-BE49-F238E27FC236}">
                <a16:creationId xmlns:a16="http://schemas.microsoft.com/office/drawing/2014/main" id="{65A8815F-06B3-466D-8F9C-B967B2891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86325"/>
            <a:ext cx="10668000" cy="2286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81A17"/>
          </a:solidFill>
          <a:ln xmlns:a="http://schemas.openxmlformats.org/drawingml/2006/main" w="5715">
            <a:solidFill>
              <a:srgbClr val="25554C"/>
            </a:solidFill>
            <a:prstDash val="solid"/>
          </a:ln>
        </p:spPr>
      </p:sp>
      <p:sp>
        <p:nvSpPr>
          <p:cNvPr id="174" name="">
            <a:extLst xmlns:a="http://schemas.openxmlformats.org/drawingml/2006/main">
              <a:ext uri="{FF2B5EF4-FFF2-40B4-BE49-F238E27FC236}">
                <a16:creationId xmlns:a16="http://schemas.microsoft.com/office/drawing/2014/main" id="{7363F000-9D3B-4C98-936A-D28CF6F0B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953000"/>
            <a:ext cx="104775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75" name="">
            <a:extLst xmlns:a="http://schemas.openxmlformats.org/drawingml/2006/main">
              <a:ext uri="{FF2B5EF4-FFF2-40B4-BE49-F238E27FC236}">
                <a16:creationId xmlns:a16="http://schemas.microsoft.com/office/drawing/2014/main" id="{5E93F3FE-E603-4317-9C7F-B4FC44CA1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9225" y="4895850"/>
            <a:ext cx="10363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765" b="0">
                <a:solidFill>
                  <a:srgbClr val="F0FAF8"/>
                </a:solidFill>
              </a:defRPr>
            </a:pPr>
            <a:r>
              <a:rPr sz="765" b="0">
                <a:solidFill>
                  <a:srgbClr val="F0FAF8"/>
                </a:solidFill>
              </a:rPr>
              <a:t>z = normalize( Σk αk · zk ),   α = softmax(g(Froi))</a:t>
            </a:r>
          </a:p>
        </p:txBody>
      </p:sp>
      <p:sp>
        <p:nvSpPr>
          <p:cNvPr id="176" name="">
            <a:extLst xmlns:a="http://schemas.openxmlformats.org/drawingml/2006/main">
              <a:ext uri="{FF2B5EF4-FFF2-40B4-BE49-F238E27FC236}">
                <a16:creationId xmlns:a16="http://schemas.microsoft.com/office/drawing/2014/main" id="{D67E9A2B-181A-43E0-9F97-AAD786A3F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5200650"/>
            <a:ext cx="952500" cy="1714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24E6BD"/>
          </a:solidFill>
          <a:ln xmlns:a="http://schemas.openxmlformats.org/drawingml/2006/main" w="0">
            <a:solidFill>
              <a:srgbClr val="24E6BD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525" b="1">
                <a:solidFill>
                  <a:srgbClr val="06100F"/>
                </a:solidFill>
              </a:defRPr>
            </a:pPr>
            <a:r>
              <a:rPr sz="525" b="1">
                <a:solidFill>
                  <a:srgbClr val="06100F"/>
                </a:solidFill>
              </a:rPr>
              <a:t>MUTUAL VISIBILITY</a:t>
            </a:r>
          </a:p>
        </p:txBody>
      </p:sp>
      <p:sp>
        <p:nvSpPr>
          <p:cNvPr id="177" name="">
            <a:extLst xmlns:a="http://schemas.openxmlformats.org/drawingml/2006/main">
              <a:ext uri="{FF2B5EF4-FFF2-40B4-BE49-F238E27FC236}">
                <a16:creationId xmlns:a16="http://schemas.microsoft.com/office/drawing/2014/main" id="{37E923C9-95EB-48F2-9203-FE7F4F3BB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181600"/>
            <a:ext cx="10668000" cy="2286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81A17"/>
          </a:solidFill>
          <a:ln xmlns:a="http://schemas.openxmlformats.org/drawingml/2006/main" w="5715">
            <a:solidFill>
              <a:srgbClr val="25554C"/>
            </a:solidFill>
            <a:prstDash val="solid"/>
          </a:ln>
        </p:spPr>
      </p:sp>
      <p:sp>
        <p:nvSpPr>
          <p:cNvPr id="178" name="">
            <a:extLst xmlns:a="http://schemas.openxmlformats.org/drawingml/2006/main">
              <a:ext uri="{FF2B5EF4-FFF2-40B4-BE49-F238E27FC236}">
                <a16:creationId xmlns:a16="http://schemas.microsoft.com/office/drawing/2014/main" id="{727F6723-65FE-4D78-9429-46B21D74E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5248275"/>
            <a:ext cx="104775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79" name="">
            <a:extLst xmlns:a="http://schemas.openxmlformats.org/drawingml/2006/main">
              <a:ext uri="{FF2B5EF4-FFF2-40B4-BE49-F238E27FC236}">
                <a16:creationId xmlns:a16="http://schemas.microsoft.com/office/drawing/2014/main" id="{4A11F9F3-1920-4AE2-BEDE-99864CB3C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9225" y="5191125"/>
            <a:ext cx="10363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765" b="0">
                <a:solidFill>
                  <a:srgbClr val="F0FAF8"/>
                </a:solidFill>
              </a:defRPr>
            </a:pPr>
            <a:r>
              <a:rPr sz="765" b="0">
                <a:solidFill>
                  <a:srgbClr val="F0FAF8"/>
                </a:solidFill>
              </a:rPr>
              <a:t>s(q,g) = Σk vk(q)vk(g) cos(zq,k,zg,k) / Σk vk(q)vk(g)</a:t>
            </a:r>
          </a:p>
        </p:txBody>
      </p:sp>
      <p:sp>
        <p:nvSpPr>
          <p:cNvPr id="180" name="">
            <a:extLst xmlns:a="http://schemas.openxmlformats.org/drawingml/2006/main">
              <a:ext uri="{FF2B5EF4-FFF2-40B4-BE49-F238E27FC236}">
                <a16:creationId xmlns:a16="http://schemas.microsoft.com/office/drawing/2014/main" id="{88B48E31-3BD5-4F05-85DC-91DA771BD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5495925"/>
            <a:ext cx="952500" cy="1714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24E6BD"/>
          </a:solidFill>
          <a:ln xmlns:a="http://schemas.openxmlformats.org/drawingml/2006/main" w="0">
            <a:solidFill>
              <a:srgbClr val="24E6BD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525" b="1">
                <a:solidFill>
                  <a:srgbClr val="06100F"/>
                </a:solidFill>
              </a:defRPr>
            </a:pPr>
            <a:r>
              <a:rPr sz="525" b="1">
                <a:solidFill>
                  <a:srgbClr val="06100F"/>
                </a:solidFill>
              </a:rPr>
              <a:t>METRIC LEARNING</a:t>
            </a:r>
          </a:p>
        </p:txBody>
      </p:sp>
      <p:sp>
        <p:nvSpPr>
          <p:cNvPr id="181" name="">
            <a:extLst xmlns:a="http://schemas.openxmlformats.org/drawingml/2006/main">
              <a:ext uri="{FF2B5EF4-FFF2-40B4-BE49-F238E27FC236}">
                <a16:creationId xmlns:a16="http://schemas.microsoft.com/office/drawing/2014/main" id="{9FAC341E-C5E5-4AEA-944C-8F8C96271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476875"/>
            <a:ext cx="10668000" cy="2286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81A17"/>
          </a:solidFill>
          <a:ln xmlns:a="http://schemas.openxmlformats.org/drawingml/2006/main" w="5715">
            <a:solidFill>
              <a:srgbClr val="25554C"/>
            </a:solidFill>
            <a:prstDash val="solid"/>
          </a:ln>
        </p:spPr>
      </p:sp>
      <p:sp>
        <p:nvSpPr>
          <p:cNvPr id="182" name="">
            <a:extLst xmlns:a="http://schemas.openxmlformats.org/drawingml/2006/main">
              <a:ext uri="{FF2B5EF4-FFF2-40B4-BE49-F238E27FC236}">
                <a16:creationId xmlns:a16="http://schemas.microsoft.com/office/drawing/2014/main" id="{97FC9DB1-FFF1-48FA-AF3F-67019F48F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5543550"/>
            <a:ext cx="104775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83" name="">
            <a:extLst xmlns:a="http://schemas.openxmlformats.org/drawingml/2006/main">
              <a:ext uri="{FF2B5EF4-FFF2-40B4-BE49-F238E27FC236}">
                <a16:creationId xmlns:a16="http://schemas.microsoft.com/office/drawing/2014/main" id="{079BA5E4-16D4-425C-840C-0C8FA5936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9225" y="5486400"/>
            <a:ext cx="10363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765" b="0">
                <a:solidFill>
                  <a:srgbClr val="F0FAF8"/>
                </a:solidFill>
              </a:defRPr>
            </a:pPr>
            <a:r>
              <a:rPr sz="765" b="0">
                <a:solidFill>
                  <a:srgbClr val="F0FAF8"/>
                </a:solidFill>
              </a:rPr>
              <a:t>Ltri = [m + d(a,p) − d(a,n)]+ ; XBM expands hard negatives</a:t>
            </a:r>
          </a:p>
        </p:txBody>
      </p:sp>
      <p:sp>
        <p:nvSpPr>
          <p:cNvPr id="184" name="">
            <a:extLst xmlns:a="http://schemas.openxmlformats.org/drawingml/2006/main">
              <a:ext uri="{FF2B5EF4-FFF2-40B4-BE49-F238E27FC236}">
                <a16:creationId xmlns:a16="http://schemas.microsoft.com/office/drawing/2014/main" id="{4F4D95C5-19F3-4C08-9C82-BC2D5C081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5791200"/>
            <a:ext cx="952500" cy="1714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8A94D"/>
          </a:solidFill>
          <a:ln xmlns:a="http://schemas.openxmlformats.org/drawingml/2006/main" w="0">
            <a:solidFill>
              <a:srgbClr val="E8A94D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525" b="1">
                <a:solidFill>
                  <a:srgbClr val="06100F"/>
                </a:solidFill>
              </a:defRPr>
            </a:pPr>
            <a:r>
              <a:rPr sz="525" b="1">
                <a:solidFill>
                  <a:srgbClr val="06100F"/>
                </a:solidFill>
              </a:rPr>
              <a:t>ARCFACE</a:t>
            </a:r>
          </a:p>
        </p:txBody>
      </p:sp>
      <p:sp>
        <p:nvSpPr>
          <p:cNvPr id="185" name="">
            <a:extLst xmlns:a="http://schemas.openxmlformats.org/drawingml/2006/main">
              <a:ext uri="{FF2B5EF4-FFF2-40B4-BE49-F238E27FC236}">
                <a16:creationId xmlns:a16="http://schemas.microsoft.com/office/drawing/2014/main" id="{F2C02699-02FC-419A-88C7-275463D48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772150"/>
            <a:ext cx="10668000" cy="2286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81A17"/>
          </a:solidFill>
          <a:ln xmlns:a="http://schemas.openxmlformats.org/drawingml/2006/main" w="5715">
            <a:solidFill>
              <a:srgbClr val="25554C"/>
            </a:solidFill>
            <a:prstDash val="solid"/>
          </a:ln>
        </p:spPr>
      </p:sp>
      <p:sp>
        <p:nvSpPr>
          <p:cNvPr id="186" name="">
            <a:extLst xmlns:a="http://schemas.openxmlformats.org/drawingml/2006/main">
              <a:ext uri="{FF2B5EF4-FFF2-40B4-BE49-F238E27FC236}">
                <a16:creationId xmlns:a16="http://schemas.microsoft.com/office/drawing/2014/main" id="{B2FC1CBF-B1FE-4767-8E89-EA0E09291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5838825"/>
            <a:ext cx="104775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87" name="">
            <a:extLst xmlns:a="http://schemas.openxmlformats.org/drawingml/2006/main">
              <a:ext uri="{FF2B5EF4-FFF2-40B4-BE49-F238E27FC236}">
                <a16:creationId xmlns:a16="http://schemas.microsoft.com/office/drawing/2014/main" id="{EBDE49C5-EE3A-4F55-9DAF-1D212A3ED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9225" y="5781675"/>
            <a:ext cx="10363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765" b="0">
                <a:solidFill>
                  <a:srgbClr val="F0FAF8"/>
                </a:solidFill>
              </a:defRPr>
            </a:pPr>
            <a:r>
              <a:rPr sz="765" b="0">
                <a:solidFill>
                  <a:srgbClr val="F0FAF8"/>
                </a:solidFill>
              </a:rPr>
              <a:t>Larc = −log exp(s cos(θy+m)) / Σj exp(s cos θj)</a:t>
            </a:r>
          </a:p>
        </p:txBody>
      </p:sp>
      <p:sp>
        <p:nvSpPr>
          <p:cNvPr id="188" name="">
            <a:extLst xmlns:a="http://schemas.openxmlformats.org/drawingml/2006/main">
              <a:ext uri="{FF2B5EF4-FFF2-40B4-BE49-F238E27FC236}">
                <a16:creationId xmlns:a16="http://schemas.microsoft.com/office/drawing/2014/main" id="{8B86F51E-680E-46C8-95C7-304670124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2484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675" b="1">
                <a:solidFill>
                  <a:srgbClr val="E8A94D"/>
                </a:solidFill>
              </a:defRPr>
            </a:pPr>
            <a:r>
              <a:rPr sz="675" b="1">
                <a:solidFill>
                  <a:srgbClr val="E8A94D"/>
                </a:solidFill>
              </a:rPr>
              <a:t>DECISION SUPPORT, NOT IDENTITY PROOF</a:t>
            </a:r>
          </a:p>
        </p:txBody>
      </p:sp>
      <p:sp>
        <p:nvSpPr>
          <p:cNvPr id="189" name="">
            <a:extLst xmlns:a="http://schemas.openxmlformats.org/drawingml/2006/main">
              <a:ext uri="{FF2B5EF4-FFF2-40B4-BE49-F238E27FC236}">
                <a16:creationId xmlns:a16="http://schemas.microsoft.com/office/drawing/2014/main" id="{D09AC5E9-4AC9-4CEB-A85C-1474F3414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6248400"/>
            <a:ext cx="600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675" b="0">
                <a:solidFill>
                  <a:srgbClr val="89A59F"/>
                </a:solidFill>
              </a:defRPr>
            </a:pPr>
            <a:r>
              <a:rPr sz="675" b="0">
                <a:solidFill>
                  <a:srgbClr val="89A59F"/>
                </a:solidFill>
              </a:rPr>
              <a:t>Final record: boxes + local tracks + global candidate identities + evidence-detail view</a:t>
            </a:r>
          </a:p>
        </p:txBody>
      </p:sp>
      <p:sp>
        <p:nvSpPr>
          <p:cNvPr id="190" name="">
            <a:extLst xmlns:a="http://schemas.openxmlformats.org/drawingml/2006/main">
              <a:ext uri="{FF2B5EF4-FFF2-40B4-BE49-F238E27FC236}">
                <a16:creationId xmlns:a16="http://schemas.microsoft.com/office/drawing/2014/main" id="{7D0FD79F-8238-4C40-9E9C-8F4A85CD2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6248400"/>
            <a:ext cx="2266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600" b="0">
                <a:solidFill>
                  <a:srgbClr val="24E6BD"/>
                </a:solidFill>
              </a:defRPr>
            </a:pPr>
            <a:r>
              <a:rPr sz="600" b="0">
                <a:solidFill>
                  <a:srgbClr val="24E6BD"/>
                </a:solidFill>
              </a:rPr>
              <a:t>Aswanth Raj · EffiPed · 2026</a:t>
            </a:r>
          </a:p>
        </p:txBody>
      </p:sp>
    </p:spTree>
    <p:extLst>
      <p:ext uri="{BB962C8B-B14F-4D97-AF65-F5344CB8AC3E}">
        <p14:creationId xmlns:p14="http://schemas.microsoft.com/office/powerpoint/2010/main" val="213868602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2026-07-30T19:06:02.7640000Z</dcterms:created>
  <dcterms:modified xsi:type="dcterms:W3CDTF">2026-07-30T19:06:02.7640000Z</dcterms:modified>
</coreProperties>
</file>